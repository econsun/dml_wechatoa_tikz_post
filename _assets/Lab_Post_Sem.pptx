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Lst>
  <p:sldSz cx="5143500" cy="9144000" type="screen16x9"/>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406"/>
    <a:srgbClr val="02070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79" autoAdjust="0"/>
    <p:restoredTop sz="94658"/>
  </p:normalViewPr>
  <p:slideViewPr>
    <p:cSldViewPr snapToGrid="0">
      <p:cViewPr varScale="1">
        <p:scale>
          <a:sx n="87" d="100"/>
          <a:sy n="87" d="100"/>
        </p:scale>
        <p:origin x="429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85763" y="1496484"/>
            <a:ext cx="4371975" cy="3183467"/>
          </a:xfrm>
        </p:spPr>
        <p:txBody>
          <a:bodyPr anchor="b"/>
          <a:lstStyle>
            <a:lvl1pPr algn="ctr">
              <a:defRPr sz="3375"/>
            </a:lvl1pPr>
          </a:lstStyle>
          <a:p>
            <a:r>
              <a:rPr lang="zh-CN" altLang="en-US"/>
              <a:t>单击此处编辑母版标题样式</a:t>
            </a:r>
            <a:endParaRPr lang="en-US" dirty="0"/>
          </a:p>
        </p:txBody>
      </p:sp>
      <p:sp>
        <p:nvSpPr>
          <p:cNvPr id="3" name="Subtitle 2"/>
          <p:cNvSpPr>
            <a:spLocks noGrp="1"/>
          </p:cNvSpPr>
          <p:nvPr>
            <p:ph type="subTitle" idx="1"/>
          </p:nvPr>
        </p:nvSpPr>
        <p:spPr>
          <a:xfrm>
            <a:off x="642938" y="4802717"/>
            <a:ext cx="3857625" cy="2207683"/>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57E26B74-D371-4795-ADDB-1E9B1F5761F8}" type="datetimeFigureOut">
              <a:rPr lang="zh-CN" altLang="en-US" smtClean="0"/>
              <a:t>2026/5/26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FBDB089-A315-4C84-B2CD-00F8FD4545E8}" type="slidenum">
              <a:rPr lang="zh-CN" altLang="en-US" smtClean="0"/>
              <a:t>‹#›</a:t>
            </a:fld>
            <a:endParaRPr lang="zh-CN" altLang="en-US"/>
          </a:p>
        </p:txBody>
      </p:sp>
    </p:spTree>
    <p:extLst>
      <p:ext uri="{BB962C8B-B14F-4D97-AF65-F5344CB8AC3E}">
        <p14:creationId xmlns:p14="http://schemas.microsoft.com/office/powerpoint/2010/main" val="618198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7E26B74-D371-4795-ADDB-1E9B1F5761F8}" type="datetimeFigureOut">
              <a:rPr lang="zh-CN" altLang="en-US" smtClean="0"/>
              <a:t>2026/5/26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FBDB089-A315-4C84-B2CD-00F8FD4545E8}" type="slidenum">
              <a:rPr lang="zh-CN" altLang="en-US" smtClean="0"/>
              <a:t>‹#›</a:t>
            </a:fld>
            <a:endParaRPr lang="zh-CN" altLang="en-US"/>
          </a:p>
        </p:txBody>
      </p:sp>
    </p:spTree>
    <p:extLst>
      <p:ext uri="{BB962C8B-B14F-4D97-AF65-F5344CB8AC3E}">
        <p14:creationId xmlns:p14="http://schemas.microsoft.com/office/powerpoint/2010/main" val="4147913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350937" y="2279653"/>
            <a:ext cx="4436269" cy="3803649"/>
          </a:xfrm>
        </p:spPr>
        <p:txBody>
          <a:bodyPr anchor="b"/>
          <a:lstStyle>
            <a:lvl1pPr>
              <a:defRPr sz="3375"/>
            </a:lvl1pPr>
          </a:lstStyle>
          <a:p>
            <a:r>
              <a:rPr lang="zh-CN" altLang="en-US"/>
              <a:t>单击此处编辑母版标题样式</a:t>
            </a:r>
            <a:endParaRPr lang="en-US" dirty="0"/>
          </a:p>
        </p:txBody>
      </p:sp>
      <p:sp>
        <p:nvSpPr>
          <p:cNvPr id="3" name="Text Placeholder 2"/>
          <p:cNvSpPr>
            <a:spLocks noGrp="1"/>
          </p:cNvSpPr>
          <p:nvPr>
            <p:ph type="body" idx="1"/>
          </p:nvPr>
        </p:nvSpPr>
        <p:spPr>
          <a:xfrm>
            <a:off x="350937" y="6119286"/>
            <a:ext cx="4436269" cy="2000249"/>
          </a:xfrm>
        </p:spPr>
        <p:txBody>
          <a:bodyPr/>
          <a:lstStyle>
            <a:lvl1pPr marL="0" indent="0">
              <a:buNone/>
              <a:defRPr sz="1350">
                <a:solidFill>
                  <a:schemeClr val="tx1">
                    <a:tint val="82000"/>
                  </a:schemeClr>
                </a:solidFill>
              </a:defRPr>
            </a:lvl1pPr>
            <a:lvl2pPr marL="257175" indent="0">
              <a:buNone/>
              <a:defRPr sz="1125">
                <a:solidFill>
                  <a:schemeClr val="tx1">
                    <a:tint val="82000"/>
                  </a:schemeClr>
                </a:solidFill>
              </a:defRPr>
            </a:lvl2pPr>
            <a:lvl3pPr marL="514350" indent="0">
              <a:buNone/>
              <a:defRPr sz="1013">
                <a:solidFill>
                  <a:schemeClr val="tx1">
                    <a:tint val="82000"/>
                  </a:schemeClr>
                </a:solidFill>
              </a:defRPr>
            </a:lvl3pPr>
            <a:lvl4pPr marL="771525" indent="0">
              <a:buNone/>
              <a:defRPr sz="900">
                <a:solidFill>
                  <a:schemeClr val="tx1">
                    <a:tint val="82000"/>
                  </a:schemeClr>
                </a:solidFill>
              </a:defRPr>
            </a:lvl4pPr>
            <a:lvl5pPr marL="1028700" indent="0">
              <a:buNone/>
              <a:defRPr sz="900">
                <a:solidFill>
                  <a:schemeClr val="tx1">
                    <a:tint val="82000"/>
                  </a:schemeClr>
                </a:solidFill>
              </a:defRPr>
            </a:lvl5pPr>
            <a:lvl6pPr marL="1285875" indent="0">
              <a:buNone/>
              <a:defRPr sz="900">
                <a:solidFill>
                  <a:schemeClr val="tx1">
                    <a:tint val="82000"/>
                  </a:schemeClr>
                </a:solidFill>
              </a:defRPr>
            </a:lvl6pPr>
            <a:lvl7pPr marL="1543050" indent="0">
              <a:buNone/>
              <a:defRPr sz="900">
                <a:solidFill>
                  <a:schemeClr val="tx1">
                    <a:tint val="82000"/>
                  </a:schemeClr>
                </a:solidFill>
              </a:defRPr>
            </a:lvl7pPr>
            <a:lvl8pPr marL="1800225" indent="0">
              <a:buNone/>
              <a:defRPr sz="900">
                <a:solidFill>
                  <a:schemeClr val="tx1">
                    <a:tint val="82000"/>
                  </a:schemeClr>
                </a:solidFill>
              </a:defRPr>
            </a:lvl8pPr>
            <a:lvl9pPr marL="2057400" indent="0">
              <a:buNone/>
              <a:defRPr sz="900">
                <a:solidFill>
                  <a:schemeClr val="tx1">
                    <a:tint val="82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7E26B74-D371-4795-ADDB-1E9B1F5761F8}" type="datetimeFigureOut">
              <a:rPr lang="zh-CN" altLang="en-US" smtClean="0"/>
              <a:t>2026/5/26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FBDB089-A315-4C84-B2CD-00F8FD4545E8}" type="slidenum">
              <a:rPr lang="zh-CN" altLang="en-US" smtClean="0"/>
              <a:t>‹#›</a:t>
            </a:fld>
            <a:endParaRPr lang="zh-CN" altLang="en-US"/>
          </a:p>
        </p:txBody>
      </p:sp>
    </p:spTree>
    <p:extLst>
      <p:ext uri="{BB962C8B-B14F-4D97-AF65-F5344CB8AC3E}">
        <p14:creationId xmlns:p14="http://schemas.microsoft.com/office/powerpoint/2010/main" val="1121425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353615" y="2434167"/>
            <a:ext cx="2185988" cy="58017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2603897" y="2434167"/>
            <a:ext cx="2185988" cy="58017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57E26B74-D371-4795-ADDB-1E9B1F5761F8}" type="datetimeFigureOut">
              <a:rPr lang="zh-CN" altLang="en-US" smtClean="0"/>
              <a:t>2026/5/26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FBDB089-A315-4C84-B2CD-00F8FD4545E8}" type="slidenum">
              <a:rPr lang="zh-CN" altLang="en-US" smtClean="0"/>
              <a:t>‹#›</a:t>
            </a:fld>
            <a:endParaRPr lang="zh-CN" altLang="en-US"/>
          </a:p>
        </p:txBody>
      </p:sp>
    </p:spTree>
    <p:extLst>
      <p:ext uri="{BB962C8B-B14F-4D97-AF65-F5344CB8AC3E}">
        <p14:creationId xmlns:p14="http://schemas.microsoft.com/office/powerpoint/2010/main" val="3202369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354285" y="486836"/>
            <a:ext cx="4436269" cy="176741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354286" y="2241551"/>
            <a:ext cx="2175941" cy="1098549"/>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4" name="Content Placeholder 3"/>
          <p:cNvSpPr>
            <a:spLocks noGrp="1"/>
          </p:cNvSpPr>
          <p:nvPr>
            <p:ph sz="half" idx="2"/>
          </p:nvPr>
        </p:nvSpPr>
        <p:spPr>
          <a:xfrm>
            <a:off x="354286" y="3340100"/>
            <a:ext cx="2175941" cy="49127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2603897" y="2241551"/>
            <a:ext cx="2186657" cy="1098549"/>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6" name="Content Placeholder 5"/>
          <p:cNvSpPr>
            <a:spLocks noGrp="1"/>
          </p:cNvSpPr>
          <p:nvPr>
            <p:ph sz="quarter" idx="4"/>
          </p:nvPr>
        </p:nvSpPr>
        <p:spPr>
          <a:xfrm>
            <a:off x="2603897" y="3340100"/>
            <a:ext cx="2186657" cy="49127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57E26B74-D371-4795-ADDB-1E9B1F5761F8}" type="datetimeFigureOut">
              <a:rPr lang="zh-CN" altLang="en-US" smtClean="0"/>
              <a:t>2026/5/26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FBDB089-A315-4C84-B2CD-00F8FD4545E8}" type="slidenum">
              <a:rPr lang="zh-CN" altLang="en-US" smtClean="0"/>
              <a:t>‹#›</a:t>
            </a:fld>
            <a:endParaRPr lang="zh-CN" altLang="en-US"/>
          </a:p>
        </p:txBody>
      </p:sp>
    </p:spTree>
    <p:extLst>
      <p:ext uri="{BB962C8B-B14F-4D97-AF65-F5344CB8AC3E}">
        <p14:creationId xmlns:p14="http://schemas.microsoft.com/office/powerpoint/2010/main" val="1271843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7E26B74-D371-4795-ADDB-1E9B1F5761F8}" type="datetimeFigureOut">
              <a:rPr lang="zh-CN" altLang="en-US" smtClean="0"/>
              <a:t>2026/5/26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FBDB089-A315-4C84-B2CD-00F8FD4545E8}" type="slidenum">
              <a:rPr lang="zh-CN" altLang="en-US" smtClean="0"/>
              <a:t>‹#›</a:t>
            </a:fld>
            <a:endParaRPr lang="zh-CN" altLang="en-US"/>
          </a:p>
        </p:txBody>
      </p:sp>
    </p:spTree>
    <p:extLst>
      <p:ext uri="{BB962C8B-B14F-4D97-AF65-F5344CB8AC3E}">
        <p14:creationId xmlns:p14="http://schemas.microsoft.com/office/powerpoint/2010/main" val="1512083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E26B74-D371-4795-ADDB-1E9B1F5761F8}" type="datetimeFigureOut">
              <a:rPr lang="zh-CN" altLang="en-US" smtClean="0"/>
              <a:t>2026/5/26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FBDB089-A315-4C84-B2CD-00F8FD4545E8}" type="slidenum">
              <a:rPr lang="zh-CN" altLang="en-US" smtClean="0"/>
              <a:t>‹#›</a:t>
            </a:fld>
            <a:endParaRPr lang="zh-CN" altLang="en-US"/>
          </a:p>
        </p:txBody>
      </p:sp>
    </p:spTree>
    <p:extLst>
      <p:ext uri="{BB962C8B-B14F-4D97-AF65-F5344CB8AC3E}">
        <p14:creationId xmlns:p14="http://schemas.microsoft.com/office/powerpoint/2010/main" val="666366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354285" y="609600"/>
            <a:ext cx="1658913" cy="2133600"/>
          </a:xfrm>
        </p:spPr>
        <p:txBody>
          <a:bodyPr anchor="b"/>
          <a:lstStyle>
            <a:lvl1pPr>
              <a:defRPr sz="1800"/>
            </a:lvl1pPr>
          </a:lstStyle>
          <a:p>
            <a:r>
              <a:rPr lang="zh-CN" altLang="en-US"/>
              <a:t>单击此处编辑母版标题样式</a:t>
            </a:r>
            <a:endParaRPr lang="en-US" dirty="0"/>
          </a:p>
        </p:txBody>
      </p:sp>
      <p:sp>
        <p:nvSpPr>
          <p:cNvPr id="3" name="Content Placeholder 2"/>
          <p:cNvSpPr>
            <a:spLocks noGrp="1"/>
          </p:cNvSpPr>
          <p:nvPr>
            <p:ph idx="1"/>
          </p:nvPr>
        </p:nvSpPr>
        <p:spPr>
          <a:xfrm>
            <a:off x="2186657" y="1316569"/>
            <a:ext cx="2603897" cy="6498167"/>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354285" y="2743200"/>
            <a:ext cx="1658913" cy="508211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7E26B74-D371-4795-ADDB-1E9B1F5761F8}" type="datetimeFigureOut">
              <a:rPr lang="zh-CN" altLang="en-US" smtClean="0"/>
              <a:t>2026/5/26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FBDB089-A315-4C84-B2CD-00F8FD4545E8}" type="slidenum">
              <a:rPr lang="zh-CN" altLang="en-US" smtClean="0"/>
              <a:t>‹#›</a:t>
            </a:fld>
            <a:endParaRPr lang="zh-CN" altLang="en-US"/>
          </a:p>
        </p:txBody>
      </p:sp>
    </p:spTree>
    <p:extLst>
      <p:ext uri="{BB962C8B-B14F-4D97-AF65-F5344CB8AC3E}">
        <p14:creationId xmlns:p14="http://schemas.microsoft.com/office/powerpoint/2010/main" val="1733244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54285" y="609600"/>
            <a:ext cx="1658913" cy="2133600"/>
          </a:xfrm>
        </p:spPr>
        <p:txBody>
          <a:bodyPr anchor="b"/>
          <a:lstStyle>
            <a:lvl1pPr>
              <a:defRPr sz="18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186657" y="1316569"/>
            <a:ext cx="2603897" cy="6498167"/>
          </a:xfrm>
        </p:spPr>
        <p:txBody>
          <a:bodyPr anchor="t"/>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zh-CN" altLang="en-US"/>
              <a:t>单击图标添加图片</a:t>
            </a:r>
            <a:endParaRPr lang="en-US" dirty="0"/>
          </a:p>
        </p:txBody>
      </p:sp>
      <p:sp>
        <p:nvSpPr>
          <p:cNvPr id="4" name="Text Placeholder 3"/>
          <p:cNvSpPr>
            <a:spLocks noGrp="1"/>
          </p:cNvSpPr>
          <p:nvPr>
            <p:ph type="body" sz="half" idx="2"/>
          </p:nvPr>
        </p:nvSpPr>
        <p:spPr>
          <a:xfrm>
            <a:off x="354285" y="2743200"/>
            <a:ext cx="1658913" cy="508211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7E26B74-D371-4795-ADDB-1E9B1F5761F8}" type="datetimeFigureOut">
              <a:rPr lang="zh-CN" altLang="en-US" smtClean="0"/>
              <a:t>2026/5/26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FBDB089-A315-4C84-B2CD-00F8FD4545E8}" type="slidenum">
              <a:rPr lang="zh-CN" altLang="en-US" smtClean="0"/>
              <a:t>‹#›</a:t>
            </a:fld>
            <a:endParaRPr lang="zh-CN" altLang="en-US"/>
          </a:p>
        </p:txBody>
      </p:sp>
    </p:spTree>
    <p:extLst>
      <p:ext uri="{BB962C8B-B14F-4D97-AF65-F5344CB8AC3E}">
        <p14:creationId xmlns:p14="http://schemas.microsoft.com/office/powerpoint/2010/main" val="2352530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7E26B74-D371-4795-ADDB-1E9B1F5761F8}" type="datetimeFigureOut">
              <a:rPr lang="zh-CN" altLang="en-US" smtClean="0"/>
              <a:t>2026/5/26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FBDB089-A315-4C84-B2CD-00F8FD4545E8}" type="slidenum">
              <a:rPr lang="zh-CN" altLang="en-US" smtClean="0"/>
              <a:t>‹#›</a:t>
            </a:fld>
            <a:endParaRPr lang="zh-CN" altLang="en-US"/>
          </a:p>
        </p:txBody>
      </p:sp>
    </p:spTree>
    <p:extLst>
      <p:ext uri="{BB962C8B-B14F-4D97-AF65-F5344CB8AC3E}">
        <p14:creationId xmlns:p14="http://schemas.microsoft.com/office/powerpoint/2010/main" val="884956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80818" y="486834"/>
            <a:ext cx="1109067" cy="7749117"/>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353616" y="486834"/>
            <a:ext cx="3262908" cy="774911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7E26B74-D371-4795-ADDB-1E9B1F5761F8}" type="datetimeFigureOut">
              <a:rPr lang="zh-CN" altLang="en-US" smtClean="0"/>
              <a:t>2026/5/26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FBDB089-A315-4C84-B2CD-00F8FD4545E8}" type="slidenum">
              <a:rPr lang="zh-CN" altLang="en-US" smtClean="0"/>
              <a:t>‹#›</a:t>
            </a:fld>
            <a:endParaRPr lang="zh-CN" altLang="en-US"/>
          </a:p>
        </p:txBody>
      </p:sp>
    </p:spTree>
    <p:extLst>
      <p:ext uri="{BB962C8B-B14F-4D97-AF65-F5344CB8AC3E}">
        <p14:creationId xmlns:p14="http://schemas.microsoft.com/office/powerpoint/2010/main" val="879771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3616" y="486836"/>
            <a:ext cx="4436269" cy="1767417"/>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353616" y="2434167"/>
            <a:ext cx="4436269" cy="580178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353615" y="8475136"/>
            <a:ext cx="1157288" cy="486833"/>
          </a:xfrm>
          <a:prstGeom prst="rect">
            <a:avLst/>
          </a:prstGeom>
        </p:spPr>
        <p:txBody>
          <a:bodyPr vert="horz" lIns="91440" tIns="45720" rIns="91440" bIns="45720" rtlCol="0" anchor="ctr"/>
          <a:lstStyle>
            <a:lvl1pPr algn="l">
              <a:defRPr sz="675">
                <a:solidFill>
                  <a:schemeClr val="tx1">
                    <a:tint val="82000"/>
                  </a:schemeClr>
                </a:solidFill>
              </a:defRPr>
            </a:lvl1pPr>
          </a:lstStyle>
          <a:p>
            <a:fld id="{57E26B74-D371-4795-ADDB-1E9B1F5761F8}" type="datetimeFigureOut">
              <a:rPr lang="zh-CN" altLang="en-US" smtClean="0"/>
              <a:t>2026/5/26</a:t>
            </a:fld>
            <a:endParaRPr lang="zh-CN" altLang="en-US"/>
          </a:p>
        </p:txBody>
      </p:sp>
      <p:sp>
        <p:nvSpPr>
          <p:cNvPr id="5" name="Footer Placeholder 4"/>
          <p:cNvSpPr>
            <a:spLocks noGrp="1"/>
          </p:cNvSpPr>
          <p:nvPr>
            <p:ph type="ftr" sz="quarter" idx="3"/>
          </p:nvPr>
        </p:nvSpPr>
        <p:spPr>
          <a:xfrm>
            <a:off x="1703785" y="8475136"/>
            <a:ext cx="1735931" cy="486833"/>
          </a:xfrm>
          <a:prstGeom prst="rect">
            <a:avLst/>
          </a:prstGeom>
        </p:spPr>
        <p:txBody>
          <a:bodyPr vert="horz" lIns="91440" tIns="45720" rIns="91440" bIns="45720" rtlCol="0" anchor="ctr"/>
          <a:lstStyle>
            <a:lvl1pPr algn="ctr">
              <a:defRPr sz="675">
                <a:solidFill>
                  <a:schemeClr val="tx1">
                    <a:tint val="82000"/>
                  </a:schemeClr>
                </a:solidFill>
              </a:defRPr>
            </a:lvl1pPr>
          </a:lstStyle>
          <a:p>
            <a:endParaRPr lang="zh-CN" altLang="en-US"/>
          </a:p>
        </p:txBody>
      </p:sp>
      <p:sp>
        <p:nvSpPr>
          <p:cNvPr id="6" name="Slide Number Placeholder 5"/>
          <p:cNvSpPr>
            <a:spLocks noGrp="1"/>
          </p:cNvSpPr>
          <p:nvPr>
            <p:ph type="sldNum" sz="quarter" idx="4"/>
          </p:nvPr>
        </p:nvSpPr>
        <p:spPr>
          <a:xfrm>
            <a:off x="3632597" y="8475136"/>
            <a:ext cx="1157288" cy="486833"/>
          </a:xfrm>
          <a:prstGeom prst="rect">
            <a:avLst/>
          </a:prstGeom>
        </p:spPr>
        <p:txBody>
          <a:bodyPr vert="horz" lIns="91440" tIns="45720" rIns="91440" bIns="45720" rtlCol="0" anchor="ctr"/>
          <a:lstStyle>
            <a:lvl1pPr algn="r">
              <a:defRPr sz="675">
                <a:solidFill>
                  <a:schemeClr val="tx1">
                    <a:tint val="82000"/>
                  </a:schemeClr>
                </a:solidFill>
              </a:defRPr>
            </a:lvl1pPr>
          </a:lstStyle>
          <a:p>
            <a:fld id="{4FBDB089-A315-4C84-B2CD-00F8FD4545E8}" type="slidenum">
              <a:rPr lang="zh-CN" altLang="en-US" smtClean="0"/>
              <a:t>‹#›</a:t>
            </a:fld>
            <a:endParaRPr lang="zh-CN" altLang="en-US"/>
          </a:p>
        </p:txBody>
      </p:sp>
    </p:spTree>
    <p:extLst>
      <p:ext uri="{BB962C8B-B14F-4D97-AF65-F5344CB8AC3E}">
        <p14:creationId xmlns:p14="http://schemas.microsoft.com/office/powerpoint/2010/main" val="41129738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8.jpe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9BF6119F-76F1-8CC0-4848-66C9E564ACDB}"/>
              </a:ext>
            </a:extLst>
          </p:cNvPr>
          <p:cNvSpPr/>
          <p:nvPr/>
        </p:nvSpPr>
        <p:spPr>
          <a:xfrm>
            <a:off x="285751" y="4141103"/>
            <a:ext cx="4591049" cy="239516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descr="分子网络抽象现代背景">
            <a:extLst>
              <a:ext uri="{FF2B5EF4-FFF2-40B4-BE49-F238E27FC236}">
                <a16:creationId xmlns:a16="http://schemas.microsoft.com/office/drawing/2014/main" id="{BE9D2F25-38A3-DA82-1BCD-FAC3392D0936}"/>
              </a:ext>
            </a:extLst>
          </p:cNvPr>
          <p:cNvSpPr/>
          <p:nvPr/>
        </p:nvSpPr>
        <p:spPr>
          <a:xfrm>
            <a:off x="0" y="-1"/>
            <a:ext cx="4961466" cy="2607732"/>
          </a:xfrm>
          <a:custGeom>
            <a:avLst/>
            <a:gdLst>
              <a:gd name="csX0" fmla="*/ 0 w 4961466"/>
              <a:gd name="csY0" fmla="*/ 0 h 2607732"/>
              <a:gd name="csX1" fmla="*/ 2571750 w 4961466"/>
              <a:gd name="csY1" fmla="*/ 0 h 2607732"/>
              <a:gd name="csX2" fmla="*/ 4961466 w 4961466"/>
              <a:gd name="csY2" fmla="*/ 0 h 2607732"/>
              <a:gd name="csX3" fmla="*/ 2571750 w 4961466"/>
              <a:gd name="csY3" fmla="*/ 2607732 h 2607732"/>
              <a:gd name="csX4" fmla="*/ 2571750 w 4961466"/>
              <a:gd name="csY4" fmla="*/ 2607731 h 2607732"/>
              <a:gd name="csX5" fmla="*/ 0 w 4961466"/>
              <a:gd name="csY5" fmla="*/ 2607731 h 2607732"/>
            </a:gdLst>
            <a:ahLst/>
            <a:cxnLst>
              <a:cxn ang="0">
                <a:pos x="csX0" y="csY0"/>
              </a:cxn>
              <a:cxn ang="0">
                <a:pos x="csX1" y="csY1"/>
              </a:cxn>
              <a:cxn ang="0">
                <a:pos x="csX2" y="csY2"/>
              </a:cxn>
              <a:cxn ang="0">
                <a:pos x="csX3" y="csY3"/>
              </a:cxn>
              <a:cxn ang="0">
                <a:pos x="csX4" y="csY4"/>
              </a:cxn>
              <a:cxn ang="0">
                <a:pos x="csX5" y="csY5"/>
              </a:cxn>
            </a:cxnLst>
            <a:rect l="l" t="t" r="r" b="b"/>
            <a:pathLst>
              <a:path w="4961466" h="2607732">
                <a:moveTo>
                  <a:pt x="0" y="0"/>
                </a:moveTo>
                <a:lnTo>
                  <a:pt x="2571750" y="0"/>
                </a:lnTo>
                <a:lnTo>
                  <a:pt x="4961466" y="0"/>
                </a:lnTo>
                <a:lnTo>
                  <a:pt x="2571750" y="2607732"/>
                </a:lnTo>
                <a:lnTo>
                  <a:pt x="2571750" y="2607731"/>
                </a:lnTo>
                <a:lnTo>
                  <a:pt x="0" y="2607731"/>
                </a:lnTo>
                <a:close/>
              </a:path>
            </a:pathLst>
          </a:cu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 name="矩形 7">
            <a:extLst>
              <a:ext uri="{FF2B5EF4-FFF2-40B4-BE49-F238E27FC236}">
                <a16:creationId xmlns:a16="http://schemas.microsoft.com/office/drawing/2014/main" id="{56751BDA-1B1F-6CFC-6C90-AC708B0F1BE8}"/>
              </a:ext>
            </a:extLst>
          </p:cNvPr>
          <p:cNvSpPr/>
          <p:nvPr/>
        </p:nvSpPr>
        <p:spPr>
          <a:xfrm>
            <a:off x="2946399" y="321734"/>
            <a:ext cx="2015067" cy="2175933"/>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 name="图片 11">
            <a:extLst>
              <a:ext uri="{FF2B5EF4-FFF2-40B4-BE49-F238E27FC236}">
                <a16:creationId xmlns:a16="http://schemas.microsoft.com/office/drawing/2014/main" id="{F40134DF-F15F-B0EB-7F24-80E3D585F00B}"/>
              </a:ext>
            </a:extLst>
          </p:cNvPr>
          <p:cNvPicPr>
            <a:picLocks/>
          </p:cNvPicPr>
          <p:nvPr/>
        </p:nvPicPr>
        <p:blipFill>
          <a:blip r:embed="rId3">
            <a:extLst>
              <a:ext uri="{28A0092B-C50C-407E-A947-70E740481C1C}">
                <a14:useLocalDpi xmlns:a14="http://schemas.microsoft.com/office/drawing/2010/main" val="0"/>
              </a:ext>
            </a:extLst>
          </a:blip>
          <a:srcRect l="697" t="-376" r="6695" b="376"/>
          <a:stretch>
            <a:fillRect/>
          </a:stretch>
        </p:blipFill>
        <p:spPr>
          <a:xfrm>
            <a:off x="2965448" y="347133"/>
            <a:ext cx="1976968" cy="2125134"/>
          </a:xfrm>
          <a:prstGeom prst="rect">
            <a:avLst/>
          </a:prstGeom>
        </p:spPr>
      </p:pic>
      <p:sp>
        <p:nvSpPr>
          <p:cNvPr id="13" name="文本框 12">
            <a:extLst>
              <a:ext uri="{FF2B5EF4-FFF2-40B4-BE49-F238E27FC236}">
                <a16:creationId xmlns:a16="http://schemas.microsoft.com/office/drawing/2014/main" id="{C1EC337E-B7E4-8C20-6713-7398E4932CE9}"/>
              </a:ext>
            </a:extLst>
          </p:cNvPr>
          <p:cNvSpPr txBox="1"/>
          <p:nvPr/>
        </p:nvSpPr>
        <p:spPr>
          <a:xfrm>
            <a:off x="201083" y="562030"/>
            <a:ext cx="2844801" cy="861774"/>
          </a:xfrm>
          <a:prstGeom prst="rect">
            <a:avLst/>
          </a:prstGeom>
          <a:noFill/>
        </p:spPr>
        <p:txBody>
          <a:bodyPr wrap="square" rtlCol="0">
            <a:spAutoFit/>
          </a:bodyPr>
          <a:lstStyle/>
          <a:p>
            <a:r>
              <a:rPr lang="en-US" altLang="zh-CN" sz="5000" b="1" spc="-150" dirty="0">
                <a:ln w="0"/>
                <a:solidFill>
                  <a:schemeClr val="bg2"/>
                </a:solidFill>
                <a:effectLst>
                  <a:innerShdw blurRad="63500" dist="50800" dir="13500000">
                    <a:srgbClr val="000000">
                      <a:alpha val="50000"/>
                    </a:srgbClr>
                  </a:innerShdw>
                </a:effectLst>
                <a:latin typeface="Calibri Light" panose="020F0302020204030204" pitchFamily="34" charset="0"/>
                <a:ea typeface="Calibri Light" panose="020F0302020204030204" pitchFamily="34" charset="0"/>
                <a:cs typeface="Calibri Light" panose="020F0302020204030204" pitchFamily="34" charset="0"/>
              </a:rPr>
              <a:t>SEMINAR</a:t>
            </a:r>
            <a:endParaRPr lang="zh-CN" altLang="en-US" sz="5000" b="1" spc="-150" dirty="0">
              <a:ln w="0"/>
              <a:solidFill>
                <a:schemeClr val="bg2"/>
              </a:solidFill>
              <a:effectLst>
                <a:innerShdw blurRad="63500" dist="50800" dir="13500000">
                  <a:srgbClr val="000000">
                    <a:alpha val="50000"/>
                  </a:srgbClr>
                </a:innerShdw>
              </a:effectLst>
              <a:latin typeface="Calibri Light" panose="020F0302020204030204" pitchFamily="34" charset="0"/>
              <a:ea typeface="Microsoft JhengHei Light" panose="020B0304030504040204" pitchFamily="34" charset="-120"/>
              <a:cs typeface="Calibri Light" panose="020F0302020204030204" pitchFamily="34" charset="0"/>
            </a:endParaRPr>
          </a:p>
        </p:txBody>
      </p:sp>
      <p:cxnSp>
        <p:nvCxnSpPr>
          <p:cNvPr id="15" name="直接连接符 14">
            <a:extLst>
              <a:ext uri="{FF2B5EF4-FFF2-40B4-BE49-F238E27FC236}">
                <a16:creationId xmlns:a16="http://schemas.microsoft.com/office/drawing/2014/main" id="{A4C7E4B3-43D5-556E-F342-62A51856E98A}"/>
              </a:ext>
            </a:extLst>
          </p:cNvPr>
          <p:cNvCxnSpPr>
            <a:cxnSpLocks/>
          </p:cNvCxnSpPr>
          <p:nvPr/>
        </p:nvCxnSpPr>
        <p:spPr>
          <a:xfrm>
            <a:off x="285751" y="1415392"/>
            <a:ext cx="1261533" cy="0"/>
          </a:xfrm>
          <a:prstGeom prst="line">
            <a:avLst/>
          </a:prstGeom>
          <a:ln w="38100">
            <a:solidFill>
              <a:srgbClr val="FFC000"/>
            </a:solidFill>
          </a:ln>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3E902646-314D-8F17-9118-C9C0F17401A7}"/>
              </a:ext>
            </a:extLst>
          </p:cNvPr>
          <p:cNvSpPr txBox="1"/>
          <p:nvPr/>
        </p:nvSpPr>
        <p:spPr>
          <a:xfrm>
            <a:off x="201084" y="1468733"/>
            <a:ext cx="1896533" cy="461665"/>
          </a:xfrm>
          <a:prstGeom prst="rect">
            <a:avLst/>
          </a:prstGeom>
          <a:noFill/>
        </p:spPr>
        <p:txBody>
          <a:bodyPr wrap="square" rtlCol="0">
            <a:spAutoFit/>
          </a:bodyPr>
          <a:lstStyle/>
          <a:p>
            <a:r>
              <a:rPr lang="en-US" altLang="zh-CN" sz="2400" b="1" dirty="0">
                <a:solidFill>
                  <a:srgbClr val="FFC000"/>
                </a:solidFill>
                <a:latin typeface="Segoe UI Historic" panose="020B0502040204020203" pitchFamily="34" charset="0"/>
                <a:ea typeface="Segoe UI Historic" panose="020B0502040204020203" pitchFamily="34" charset="0"/>
                <a:cs typeface="Segoe UI Historic" panose="020B0502040204020203" pitchFamily="34" charset="0"/>
              </a:rPr>
              <a:t>Xing Guo  </a:t>
            </a:r>
            <a:r>
              <a:rPr lang="en-US" altLang="zh-CN" sz="1200" b="1" dirty="0">
                <a:solidFill>
                  <a:schemeClr val="bg1"/>
                </a:solidFill>
                <a:latin typeface="Segoe UI Historic" panose="020B0502040204020203" pitchFamily="34" charset="0"/>
                <a:ea typeface="Segoe UI Historic" panose="020B0502040204020203" pitchFamily="34" charset="0"/>
                <a:cs typeface="Segoe UI Historic" panose="020B0502040204020203" pitchFamily="34" charset="0"/>
              </a:rPr>
              <a:t>Ph.D.</a:t>
            </a:r>
            <a:endParaRPr lang="zh-CN" altLang="en-US" sz="2400" b="1" dirty="0">
              <a:solidFill>
                <a:schemeClr val="bg1"/>
              </a:solidFill>
              <a:latin typeface="Segoe UI Historic" panose="020B0502040204020203" pitchFamily="34" charset="0"/>
              <a:cs typeface="Segoe UI Historic" panose="020B0502040204020203" pitchFamily="34" charset="0"/>
            </a:endParaRPr>
          </a:p>
        </p:txBody>
      </p:sp>
      <p:sp>
        <p:nvSpPr>
          <p:cNvPr id="18" name="文本框 17">
            <a:extLst>
              <a:ext uri="{FF2B5EF4-FFF2-40B4-BE49-F238E27FC236}">
                <a16:creationId xmlns:a16="http://schemas.microsoft.com/office/drawing/2014/main" id="{61E17483-FD1C-0E3A-7751-A4F14DC8CAF1}"/>
              </a:ext>
            </a:extLst>
          </p:cNvPr>
          <p:cNvSpPr txBox="1"/>
          <p:nvPr/>
        </p:nvSpPr>
        <p:spPr>
          <a:xfrm>
            <a:off x="201083" y="1929189"/>
            <a:ext cx="2470149" cy="253916"/>
          </a:xfrm>
          <a:prstGeom prst="rect">
            <a:avLst/>
          </a:prstGeom>
          <a:noFill/>
        </p:spPr>
        <p:txBody>
          <a:bodyPr wrap="square" rtlCol="0">
            <a:spAutoFit/>
          </a:bodyPr>
          <a:lstStyle/>
          <a:p>
            <a:r>
              <a:rPr lang="en-US" altLang="zh-CN" sz="1050" b="1" dirty="0">
                <a:solidFill>
                  <a:schemeClr val="bg1"/>
                </a:solidFill>
              </a:rPr>
              <a:t>Principal Researcher, Bank of Canada</a:t>
            </a:r>
            <a:endParaRPr lang="zh-CN" altLang="en-US" sz="1050" b="1" dirty="0">
              <a:solidFill>
                <a:schemeClr val="bg1"/>
              </a:solidFill>
            </a:endParaRPr>
          </a:p>
        </p:txBody>
      </p:sp>
      <p:sp>
        <p:nvSpPr>
          <p:cNvPr id="19" name="文本框 18">
            <a:extLst>
              <a:ext uri="{FF2B5EF4-FFF2-40B4-BE49-F238E27FC236}">
                <a16:creationId xmlns:a16="http://schemas.microsoft.com/office/drawing/2014/main" id="{C484DDF1-49DB-0BD7-B6A3-74E8A7F128FC}"/>
              </a:ext>
            </a:extLst>
          </p:cNvPr>
          <p:cNvSpPr txBox="1"/>
          <p:nvPr/>
        </p:nvSpPr>
        <p:spPr>
          <a:xfrm>
            <a:off x="223470" y="401198"/>
            <a:ext cx="1911351" cy="307777"/>
          </a:xfrm>
          <a:prstGeom prst="rect">
            <a:avLst/>
          </a:prstGeom>
          <a:noFill/>
        </p:spPr>
        <p:txBody>
          <a:bodyPr wrap="square" rtlCol="0">
            <a:spAutoFit/>
          </a:bodyPr>
          <a:lstStyle/>
          <a:p>
            <a:r>
              <a:rPr lang="en-US" altLang="zh-CN" sz="1100" b="1" dirty="0">
                <a:solidFill>
                  <a:schemeClr val="bg1"/>
                </a:solidFill>
              </a:rPr>
              <a:t>DEEP</a:t>
            </a:r>
            <a:r>
              <a:rPr lang="en-US" altLang="zh-CN" sz="1400" b="1" dirty="0">
                <a:solidFill>
                  <a:schemeClr val="bg1"/>
                </a:solidFill>
              </a:rPr>
              <a:t>M</a:t>
            </a:r>
            <a:r>
              <a:rPr lang="en-US" altLang="zh-CN" sz="1100" b="1" dirty="0">
                <a:solidFill>
                  <a:schemeClr val="bg1"/>
                </a:solidFill>
              </a:rPr>
              <a:t>ACRO</a:t>
            </a:r>
            <a:r>
              <a:rPr lang="en-US" altLang="zh-CN" sz="1400" b="1" dirty="0">
                <a:solidFill>
                  <a:schemeClr val="bg1"/>
                </a:solidFill>
              </a:rPr>
              <a:t> L</a:t>
            </a:r>
            <a:r>
              <a:rPr lang="en-US" altLang="zh-CN" sz="1100" b="1" dirty="0">
                <a:solidFill>
                  <a:schemeClr val="bg1"/>
                </a:solidFill>
              </a:rPr>
              <a:t>AB</a:t>
            </a:r>
            <a:endParaRPr lang="zh-CN" altLang="en-US" sz="1400" b="1" dirty="0">
              <a:solidFill>
                <a:schemeClr val="bg1"/>
              </a:solidFill>
            </a:endParaRPr>
          </a:p>
        </p:txBody>
      </p:sp>
      <p:grpSp>
        <p:nvGrpSpPr>
          <p:cNvPr id="24" name="组合 23">
            <a:extLst>
              <a:ext uri="{FF2B5EF4-FFF2-40B4-BE49-F238E27FC236}">
                <a16:creationId xmlns:a16="http://schemas.microsoft.com/office/drawing/2014/main" id="{5D09F8F7-F750-0128-4174-5116D3059037}"/>
              </a:ext>
            </a:extLst>
          </p:cNvPr>
          <p:cNvGrpSpPr/>
          <p:nvPr/>
        </p:nvGrpSpPr>
        <p:grpSpPr>
          <a:xfrm>
            <a:off x="442464" y="2806548"/>
            <a:ext cx="592666" cy="592666"/>
            <a:chOff x="1052064" y="3462867"/>
            <a:chExt cx="592666" cy="592666"/>
          </a:xfrm>
        </p:grpSpPr>
        <p:sp>
          <p:nvSpPr>
            <p:cNvPr id="23" name="椭圆 22" descr="分子网络抽象现代背景">
              <a:extLst>
                <a:ext uri="{FF2B5EF4-FFF2-40B4-BE49-F238E27FC236}">
                  <a16:creationId xmlns:a16="http://schemas.microsoft.com/office/drawing/2014/main" id="{D9801821-484C-7F44-66DA-A738FC999781}"/>
                </a:ext>
              </a:extLst>
            </p:cNvPr>
            <p:cNvSpPr/>
            <p:nvPr/>
          </p:nvSpPr>
          <p:spPr>
            <a:xfrm>
              <a:off x="1052064" y="3462867"/>
              <a:ext cx="592666" cy="59266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blipFill dpi="0" rotWithShape="1">
                  <a:blip r:embed="rId4">
                    <a:extLst>
                      <a:ext uri="{28A0092B-C50C-407E-A947-70E740481C1C}">
                        <a14:useLocalDpi xmlns:a14="http://schemas.microsoft.com/office/drawing/2010/main" val="0"/>
                      </a:ext>
                    </a:extLst>
                  </a:blip>
                  <a:srcRect/>
                  <a:stretch>
                    <a:fillRect/>
                  </a:stretch>
                </a:blipFill>
              </a:endParaRPr>
            </a:p>
          </p:txBody>
        </p:sp>
        <p:pic>
          <p:nvPicPr>
            <p:cNvPr id="21" name="图形 20" descr="打开的书 纯色填充">
              <a:extLst>
                <a:ext uri="{FF2B5EF4-FFF2-40B4-BE49-F238E27FC236}">
                  <a16:creationId xmlns:a16="http://schemas.microsoft.com/office/drawing/2014/main" id="{9C318672-2571-6033-EF87-4160B4CDD4D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2581" y="3551848"/>
              <a:ext cx="414703" cy="414703"/>
            </a:xfrm>
            <a:prstGeom prst="rect">
              <a:avLst/>
            </a:prstGeom>
          </p:spPr>
        </p:pic>
      </p:grpSp>
      <p:cxnSp>
        <p:nvCxnSpPr>
          <p:cNvPr id="26" name="直接连接符 25">
            <a:extLst>
              <a:ext uri="{FF2B5EF4-FFF2-40B4-BE49-F238E27FC236}">
                <a16:creationId xmlns:a16="http://schemas.microsoft.com/office/drawing/2014/main" id="{EBEA3AE8-21AB-A625-DDE0-4EC92DDA5C3B}"/>
              </a:ext>
            </a:extLst>
          </p:cNvPr>
          <p:cNvCxnSpPr>
            <a:cxnSpLocks/>
          </p:cNvCxnSpPr>
          <p:nvPr/>
        </p:nvCxnSpPr>
        <p:spPr>
          <a:xfrm>
            <a:off x="1269757" y="3017307"/>
            <a:ext cx="1972733" cy="0"/>
          </a:xfrm>
          <a:prstGeom prst="line">
            <a:avLst/>
          </a:prstGeom>
        </p:spPr>
        <p:style>
          <a:lnRef idx="2">
            <a:schemeClr val="accent1"/>
          </a:lnRef>
          <a:fillRef idx="0">
            <a:schemeClr val="accent1"/>
          </a:fillRef>
          <a:effectRef idx="1">
            <a:schemeClr val="accent1"/>
          </a:effectRef>
          <a:fontRef idx="minor">
            <a:schemeClr val="tx1"/>
          </a:fontRef>
        </p:style>
      </p:cxnSp>
      <p:sp>
        <p:nvSpPr>
          <p:cNvPr id="28" name="文本框 27">
            <a:extLst>
              <a:ext uri="{FF2B5EF4-FFF2-40B4-BE49-F238E27FC236}">
                <a16:creationId xmlns:a16="http://schemas.microsoft.com/office/drawing/2014/main" id="{D78F62C8-C6E2-64AC-D522-0FA7F1A23185}"/>
              </a:ext>
            </a:extLst>
          </p:cNvPr>
          <p:cNvSpPr txBox="1"/>
          <p:nvPr/>
        </p:nvSpPr>
        <p:spPr>
          <a:xfrm>
            <a:off x="1172554" y="2720975"/>
            <a:ext cx="2190669" cy="276999"/>
          </a:xfrm>
          <a:prstGeom prst="rect">
            <a:avLst/>
          </a:prstGeom>
          <a:noFill/>
        </p:spPr>
        <p:txBody>
          <a:bodyPr wrap="square" rtlCol="0">
            <a:spAutoFit/>
          </a:bodyPr>
          <a:lstStyle/>
          <a:p>
            <a:r>
              <a:rPr lang="en-US" altLang="zh-CN" sz="1200" b="1" dirty="0">
                <a:solidFill>
                  <a:schemeClr val="accent1">
                    <a:lumMod val="50000"/>
                  </a:schemeClr>
                </a:solidFill>
              </a:rPr>
              <a:t>PRESENTED PAPER</a:t>
            </a:r>
            <a:endParaRPr lang="zh-CN" altLang="en-US" sz="1200" b="1" dirty="0">
              <a:solidFill>
                <a:schemeClr val="accent1">
                  <a:lumMod val="50000"/>
                </a:schemeClr>
              </a:solidFill>
            </a:endParaRPr>
          </a:p>
        </p:txBody>
      </p:sp>
      <p:sp>
        <p:nvSpPr>
          <p:cNvPr id="29" name="文本框 28">
            <a:extLst>
              <a:ext uri="{FF2B5EF4-FFF2-40B4-BE49-F238E27FC236}">
                <a16:creationId xmlns:a16="http://schemas.microsoft.com/office/drawing/2014/main" id="{3C4DF120-9BBB-7028-83A3-0E3606670C9B}"/>
              </a:ext>
            </a:extLst>
          </p:cNvPr>
          <p:cNvSpPr txBox="1"/>
          <p:nvPr/>
        </p:nvSpPr>
        <p:spPr>
          <a:xfrm>
            <a:off x="1179145" y="3018815"/>
            <a:ext cx="4051379" cy="861774"/>
          </a:xfrm>
          <a:prstGeom prst="rect">
            <a:avLst/>
          </a:prstGeom>
          <a:noFill/>
        </p:spPr>
        <p:txBody>
          <a:bodyPr wrap="square" rtlCol="0">
            <a:spAutoFit/>
          </a:bodyPr>
          <a:lstStyle/>
          <a:p>
            <a:r>
              <a:rPr lang="en-US" altLang="zh-CN" sz="1600" b="1" dirty="0">
                <a:solidFill>
                  <a:schemeClr val="accent1">
                    <a:lumMod val="50000"/>
                  </a:schemeClr>
                </a:solidFill>
                <a:latin typeface="Segoe UI Light" panose="020B0502040204020203" pitchFamily="34" charset="0"/>
                <a:ea typeface="Calibri Light" panose="020F0302020204030204" pitchFamily="34" charset="0"/>
                <a:cs typeface="Segoe UI Light" panose="020B0502040204020203" pitchFamily="34" charset="0"/>
              </a:rPr>
              <a:t>Firm Heterogeneity and </a:t>
            </a:r>
          </a:p>
          <a:p>
            <a:r>
              <a:rPr lang="en-US" altLang="zh-CN" sz="1600" b="1" dirty="0">
                <a:solidFill>
                  <a:schemeClr val="accent1">
                    <a:lumMod val="50000"/>
                  </a:schemeClr>
                </a:solidFill>
                <a:latin typeface="Segoe UI Light" panose="020B0502040204020203" pitchFamily="34" charset="0"/>
                <a:ea typeface="Calibri Light" panose="020F0302020204030204" pitchFamily="34" charset="0"/>
                <a:cs typeface="Segoe UI Light" panose="020B0502040204020203" pitchFamily="34" charset="0"/>
              </a:rPr>
              <a:t>Adverse Selection in External Finance: </a:t>
            </a:r>
          </a:p>
          <a:p>
            <a:r>
              <a:rPr lang="en-US" altLang="zh-CN" sz="1600" b="1" dirty="0">
                <a:solidFill>
                  <a:schemeClr val="accent1">
                    <a:lumMod val="50000"/>
                  </a:schemeClr>
                </a:solidFill>
                <a:latin typeface="Segoe UI Light" panose="020B0502040204020203" pitchFamily="34" charset="0"/>
                <a:ea typeface="Calibri Light" panose="020F0302020204030204" pitchFamily="34" charset="0"/>
                <a:cs typeface="Segoe UI Light" panose="020B0502040204020203" pitchFamily="34" charset="0"/>
              </a:rPr>
              <a:t>Micro Evidence and Macro Implications</a:t>
            </a:r>
            <a:endParaRPr lang="zh-CN" altLang="en-US" sz="1600" b="1" dirty="0">
              <a:solidFill>
                <a:schemeClr val="accent1">
                  <a:lumMod val="50000"/>
                </a:schemeClr>
              </a:solidFill>
              <a:latin typeface="Segoe UI Light" panose="020B0502040204020203" pitchFamily="34" charset="0"/>
              <a:ea typeface="等线" panose="02010600030101010101" pitchFamily="2" charset="-122"/>
              <a:cs typeface="Segoe UI Light" panose="020B0502040204020203" pitchFamily="34" charset="0"/>
            </a:endParaRPr>
          </a:p>
        </p:txBody>
      </p:sp>
      <p:cxnSp>
        <p:nvCxnSpPr>
          <p:cNvPr id="31" name="直接连接符 30">
            <a:extLst>
              <a:ext uri="{FF2B5EF4-FFF2-40B4-BE49-F238E27FC236}">
                <a16:creationId xmlns:a16="http://schemas.microsoft.com/office/drawing/2014/main" id="{315FF407-281E-625E-3623-BDE272AAC104}"/>
              </a:ext>
            </a:extLst>
          </p:cNvPr>
          <p:cNvCxnSpPr/>
          <p:nvPr/>
        </p:nvCxnSpPr>
        <p:spPr>
          <a:xfrm>
            <a:off x="1276349" y="3876848"/>
            <a:ext cx="842435"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
        <p:nvSpPr>
          <p:cNvPr id="32" name="文本框 31">
            <a:extLst>
              <a:ext uri="{FF2B5EF4-FFF2-40B4-BE49-F238E27FC236}">
                <a16:creationId xmlns:a16="http://schemas.microsoft.com/office/drawing/2014/main" id="{0D2BC134-F339-F752-2205-5636B06B6D0B}"/>
              </a:ext>
            </a:extLst>
          </p:cNvPr>
          <p:cNvSpPr txBox="1"/>
          <p:nvPr/>
        </p:nvSpPr>
        <p:spPr>
          <a:xfrm>
            <a:off x="1181102" y="3894667"/>
            <a:ext cx="3479800" cy="253916"/>
          </a:xfrm>
          <a:prstGeom prst="rect">
            <a:avLst/>
          </a:prstGeom>
          <a:noFill/>
        </p:spPr>
        <p:txBody>
          <a:bodyPr wrap="square" rtlCol="0">
            <a:spAutoFit/>
          </a:bodyPr>
          <a:lstStyle/>
          <a:p>
            <a:r>
              <a:rPr lang="en-US" altLang="zh-CN" sz="1000" i="1" dirty="0"/>
              <a:t>with Pablo Ottonello, Thomas Winberry, and Toni Whited</a:t>
            </a:r>
            <a:endParaRPr lang="zh-CN" altLang="en-US" sz="1000" i="1" dirty="0"/>
          </a:p>
        </p:txBody>
      </p:sp>
      <p:grpSp>
        <p:nvGrpSpPr>
          <p:cNvPr id="38" name="组合 37">
            <a:extLst>
              <a:ext uri="{FF2B5EF4-FFF2-40B4-BE49-F238E27FC236}">
                <a16:creationId xmlns:a16="http://schemas.microsoft.com/office/drawing/2014/main" id="{17E96102-09FE-094D-FEFE-EEF6437ACC8D}"/>
              </a:ext>
            </a:extLst>
          </p:cNvPr>
          <p:cNvGrpSpPr/>
          <p:nvPr/>
        </p:nvGrpSpPr>
        <p:grpSpPr>
          <a:xfrm>
            <a:off x="442464" y="4275667"/>
            <a:ext cx="592666" cy="592666"/>
            <a:chOff x="655110" y="4393781"/>
            <a:chExt cx="592666" cy="592666"/>
          </a:xfrm>
        </p:grpSpPr>
        <p:sp>
          <p:nvSpPr>
            <p:cNvPr id="34" name="椭圆 33" descr="分子网络抽象现代背景">
              <a:extLst>
                <a:ext uri="{FF2B5EF4-FFF2-40B4-BE49-F238E27FC236}">
                  <a16:creationId xmlns:a16="http://schemas.microsoft.com/office/drawing/2014/main" id="{CB3BBA35-80B2-7DB3-1ED7-A0388DB301AC}"/>
                </a:ext>
              </a:extLst>
            </p:cNvPr>
            <p:cNvSpPr/>
            <p:nvPr/>
          </p:nvSpPr>
          <p:spPr>
            <a:xfrm>
              <a:off x="655110" y="4393781"/>
              <a:ext cx="592666" cy="59266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blipFill dpi="0" rotWithShape="1">
                  <a:blip r:embed="rId4">
                    <a:extLst>
                      <a:ext uri="{28A0092B-C50C-407E-A947-70E740481C1C}">
                        <a14:useLocalDpi xmlns:a14="http://schemas.microsoft.com/office/drawing/2010/main" val="0"/>
                      </a:ext>
                    </a:extLst>
                  </a:blip>
                  <a:srcRect/>
                  <a:stretch>
                    <a:fillRect/>
                  </a:stretch>
                </a:blipFill>
              </a:endParaRPr>
            </a:p>
          </p:txBody>
        </p:sp>
        <p:pic>
          <p:nvPicPr>
            <p:cNvPr id="37" name="图形 36" descr="放大镜 纯色填充">
              <a:extLst>
                <a:ext uri="{FF2B5EF4-FFF2-40B4-BE49-F238E27FC236}">
                  <a16:creationId xmlns:a16="http://schemas.microsoft.com/office/drawing/2014/main" id="{2F2F0E1C-ECEE-99E0-E04D-FEC0640E92B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8243" y="4475470"/>
              <a:ext cx="406400" cy="406400"/>
            </a:xfrm>
            <a:prstGeom prst="rect">
              <a:avLst/>
            </a:prstGeom>
          </p:spPr>
        </p:pic>
      </p:grpSp>
      <p:cxnSp>
        <p:nvCxnSpPr>
          <p:cNvPr id="41" name="直接连接符 40">
            <a:extLst>
              <a:ext uri="{FF2B5EF4-FFF2-40B4-BE49-F238E27FC236}">
                <a16:creationId xmlns:a16="http://schemas.microsoft.com/office/drawing/2014/main" id="{1FE6D2C3-3FEB-6B30-D032-366774CBC42F}"/>
              </a:ext>
            </a:extLst>
          </p:cNvPr>
          <p:cNvCxnSpPr/>
          <p:nvPr/>
        </p:nvCxnSpPr>
        <p:spPr>
          <a:xfrm>
            <a:off x="1270000" y="4572000"/>
            <a:ext cx="3496733" cy="0"/>
          </a:xfrm>
          <a:prstGeom prst="line">
            <a:avLst/>
          </a:prstGeom>
          <a:ln w="9525"/>
        </p:spPr>
        <p:style>
          <a:lnRef idx="2">
            <a:schemeClr val="accent1"/>
          </a:lnRef>
          <a:fillRef idx="0">
            <a:schemeClr val="accent1"/>
          </a:fillRef>
          <a:effectRef idx="1">
            <a:schemeClr val="accent1"/>
          </a:effectRef>
          <a:fontRef idx="minor">
            <a:schemeClr val="tx1"/>
          </a:fontRef>
        </p:style>
      </p:cxnSp>
      <p:cxnSp>
        <p:nvCxnSpPr>
          <p:cNvPr id="43" name="直接连接符 42">
            <a:extLst>
              <a:ext uri="{FF2B5EF4-FFF2-40B4-BE49-F238E27FC236}">
                <a16:creationId xmlns:a16="http://schemas.microsoft.com/office/drawing/2014/main" id="{E36314E9-793D-9613-3B66-997F006A0FC4}"/>
              </a:ext>
            </a:extLst>
          </p:cNvPr>
          <p:cNvCxnSpPr/>
          <p:nvPr/>
        </p:nvCxnSpPr>
        <p:spPr>
          <a:xfrm>
            <a:off x="1172797" y="4275667"/>
            <a:ext cx="0" cy="2201333"/>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44" name="文本框 43">
            <a:extLst>
              <a:ext uri="{FF2B5EF4-FFF2-40B4-BE49-F238E27FC236}">
                <a16:creationId xmlns:a16="http://schemas.microsoft.com/office/drawing/2014/main" id="{351454D3-46B1-F7C1-990C-1EFE69DD3393}"/>
              </a:ext>
            </a:extLst>
          </p:cNvPr>
          <p:cNvSpPr txBox="1"/>
          <p:nvPr/>
        </p:nvSpPr>
        <p:spPr>
          <a:xfrm>
            <a:off x="1219442" y="4275667"/>
            <a:ext cx="2190669" cy="276999"/>
          </a:xfrm>
          <a:prstGeom prst="rect">
            <a:avLst/>
          </a:prstGeom>
          <a:noFill/>
        </p:spPr>
        <p:txBody>
          <a:bodyPr wrap="square" rtlCol="0">
            <a:spAutoFit/>
          </a:bodyPr>
          <a:lstStyle/>
          <a:p>
            <a:r>
              <a:rPr lang="en-US" altLang="zh-CN" sz="1200" b="1" dirty="0">
                <a:solidFill>
                  <a:schemeClr val="accent1">
                    <a:lumMod val="50000"/>
                  </a:schemeClr>
                </a:solidFill>
              </a:rPr>
              <a:t>ABSTRACT</a:t>
            </a:r>
            <a:endParaRPr lang="zh-CN" altLang="en-US" sz="1200" b="1" dirty="0">
              <a:solidFill>
                <a:schemeClr val="accent1">
                  <a:lumMod val="50000"/>
                </a:schemeClr>
              </a:solidFill>
            </a:endParaRPr>
          </a:p>
        </p:txBody>
      </p:sp>
      <p:sp>
        <p:nvSpPr>
          <p:cNvPr id="45" name="矩形 44">
            <a:extLst>
              <a:ext uri="{FF2B5EF4-FFF2-40B4-BE49-F238E27FC236}">
                <a16:creationId xmlns:a16="http://schemas.microsoft.com/office/drawing/2014/main" id="{2515EC4B-0BB4-1479-4E99-6E27D149D584}"/>
              </a:ext>
            </a:extLst>
          </p:cNvPr>
          <p:cNvSpPr/>
          <p:nvPr/>
        </p:nvSpPr>
        <p:spPr>
          <a:xfrm>
            <a:off x="292101" y="6536270"/>
            <a:ext cx="4584700" cy="183726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椭圆 46" descr="分子网络抽象现代背景">
            <a:extLst>
              <a:ext uri="{FF2B5EF4-FFF2-40B4-BE49-F238E27FC236}">
                <a16:creationId xmlns:a16="http://schemas.microsoft.com/office/drawing/2014/main" id="{110D374D-874D-B777-ACCF-F6394470CC32}"/>
              </a:ext>
            </a:extLst>
          </p:cNvPr>
          <p:cNvSpPr/>
          <p:nvPr/>
        </p:nvSpPr>
        <p:spPr>
          <a:xfrm>
            <a:off x="448813" y="6670834"/>
            <a:ext cx="592666" cy="59266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blipFill dpi="0" rotWithShape="1">
                <a:blip r:embed="rId4">
                  <a:extLst>
                    <a:ext uri="{28A0092B-C50C-407E-A947-70E740481C1C}">
                      <a14:useLocalDpi xmlns:a14="http://schemas.microsoft.com/office/drawing/2010/main" val="0"/>
                    </a:ext>
                  </a:extLst>
                </a:blip>
                <a:srcRect/>
                <a:stretch>
                  <a:fillRect/>
                </a:stretch>
              </a:blipFill>
            </a:endParaRPr>
          </a:p>
        </p:txBody>
      </p:sp>
      <p:cxnSp>
        <p:nvCxnSpPr>
          <p:cNvPr id="49" name="直接连接符 48">
            <a:extLst>
              <a:ext uri="{FF2B5EF4-FFF2-40B4-BE49-F238E27FC236}">
                <a16:creationId xmlns:a16="http://schemas.microsoft.com/office/drawing/2014/main" id="{8EF6BA33-680F-8EBE-CA81-ABD9ED8775F4}"/>
              </a:ext>
            </a:extLst>
          </p:cNvPr>
          <p:cNvCxnSpPr/>
          <p:nvPr/>
        </p:nvCxnSpPr>
        <p:spPr>
          <a:xfrm>
            <a:off x="1276349" y="6967167"/>
            <a:ext cx="3496733" cy="0"/>
          </a:xfrm>
          <a:prstGeom prst="line">
            <a:avLst/>
          </a:prstGeom>
          <a:ln w="9525"/>
        </p:spPr>
        <p:style>
          <a:lnRef idx="2">
            <a:schemeClr val="accent1"/>
          </a:lnRef>
          <a:fillRef idx="0">
            <a:schemeClr val="accent1"/>
          </a:fillRef>
          <a:effectRef idx="1">
            <a:schemeClr val="accent1"/>
          </a:effectRef>
          <a:fontRef idx="minor">
            <a:schemeClr val="tx1"/>
          </a:fontRef>
        </p:style>
      </p:cxnSp>
      <p:cxnSp>
        <p:nvCxnSpPr>
          <p:cNvPr id="50" name="直接连接符 49">
            <a:extLst>
              <a:ext uri="{FF2B5EF4-FFF2-40B4-BE49-F238E27FC236}">
                <a16:creationId xmlns:a16="http://schemas.microsoft.com/office/drawing/2014/main" id="{A1EFF5DC-5CB4-6F2E-CBE8-793C8923578E}"/>
              </a:ext>
            </a:extLst>
          </p:cNvPr>
          <p:cNvCxnSpPr>
            <a:cxnSpLocks/>
          </p:cNvCxnSpPr>
          <p:nvPr/>
        </p:nvCxnSpPr>
        <p:spPr>
          <a:xfrm>
            <a:off x="1179146" y="6670834"/>
            <a:ext cx="1956" cy="1627495"/>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51" name="文本框 50">
            <a:extLst>
              <a:ext uri="{FF2B5EF4-FFF2-40B4-BE49-F238E27FC236}">
                <a16:creationId xmlns:a16="http://schemas.microsoft.com/office/drawing/2014/main" id="{5AE634D4-0D56-B810-C368-E819FB0462EC}"/>
              </a:ext>
            </a:extLst>
          </p:cNvPr>
          <p:cNvSpPr txBox="1"/>
          <p:nvPr/>
        </p:nvSpPr>
        <p:spPr>
          <a:xfrm>
            <a:off x="1225791" y="6670834"/>
            <a:ext cx="2190669" cy="276999"/>
          </a:xfrm>
          <a:prstGeom prst="rect">
            <a:avLst/>
          </a:prstGeom>
          <a:noFill/>
        </p:spPr>
        <p:txBody>
          <a:bodyPr wrap="square" rtlCol="0">
            <a:spAutoFit/>
          </a:bodyPr>
          <a:lstStyle/>
          <a:p>
            <a:r>
              <a:rPr lang="en-US" altLang="zh-CN" sz="1200" b="1" dirty="0">
                <a:solidFill>
                  <a:schemeClr val="accent1">
                    <a:lumMod val="50000"/>
                  </a:schemeClr>
                </a:solidFill>
              </a:rPr>
              <a:t>BIO</a:t>
            </a:r>
            <a:endParaRPr lang="zh-CN" altLang="en-US" sz="1200" b="1" dirty="0">
              <a:solidFill>
                <a:schemeClr val="accent1">
                  <a:lumMod val="50000"/>
                </a:schemeClr>
              </a:solidFill>
            </a:endParaRPr>
          </a:p>
        </p:txBody>
      </p:sp>
      <p:pic>
        <p:nvPicPr>
          <p:cNvPr id="53" name="图形 52" descr="用户 纯色填充">
            <a:extLst>
              <a:ext uri="{FF2B5EF4-FFF2-40B4-BE49-F238E27FC236}">
                <a16:creationId xmlns:a16="http://schemas.microsoft.com/office/drawing/2014/main" id="{93A472D8-3AFD-6071-5AAA-B2E7F292563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5940" y="6674049"/>
            <a:ext cx="781290" cy="781290"/>
          </a:xfrm>
          <a:prstGeom prst="rect">
            <a:avLst/>
          </a:prstGeom>
        </p:spPr>
      </p:pic>
      <p:sp>
        <p:nvSpPr>
          <p:cNvPr id="54" name="文本框 53">
            <a:extLst>
              <a:ext uri="{FF2B5EF4-FFF2-40B4-BE49-F238E27FC236}">
                <a16:creationId xmlns:a16="http://schemas.microsoft.com/office/drawing/2014/main" id="{F00D9B02-3779-2D4D-C0A7-C99F974606AA}"/>
              </a:ext>
            </a:extLst>
          </p:cNvPr>
          <p:cNvSpPr txBox="1"/>
          <p:nvPr/>
        </p:nvSpPr>
        <p:spPr>
          <a:xfrm>
            <a:off x="1225714" y="4604758"/>
            <a:ext cx="3541020" cy="1938992"/>
          </a:xfrm>
          <a:prstGeom prst="rect">
            <a:avLst/>
          </a:prstGeom>
          <a:noFill/>
        </p:spPr>
        <p:txBody>
          <a:bodyPr wrap="square" rtlCol="0">
            <a:spAutoFit/>
          </a:bodyPr>
          <a:lstStyle/>
          <a:p>
            <a:pPr algn="just"/>
            <a:r>
              <a:rPr lang="en-US" altLang="zh-CN" sz="1000" dirty="0"/>
              <a:t>This paper studies how asymmetric information between firms and outside investors affects aggregate investment. It develops a heterogeneous-firm macroeconomic model in which firms privately observe their own quality, creating a lemons problem in external finance markets. The paper uses high-frequency stock-price reactions around new financing events to measure private information in the data. It finds that fluctuations in private information are quantitatively important for business cycles: during the 2007-2009 financial crisis, a rise in private information explains about 40 percent of the decline in aggregate investment and reduced the effectiveness of  monetary stimulus.</a:t>
            </a:r>
            <a:endParaRPr lang="zh-CN" altLang="en-US" sz="1000" dirty="0"/>
          </a:p>
        </p:txBody>
      </p:sp>
      <p:sp>
        <p:nvSpPr>
          <p:cNvPr id="55" name="文本框 54">
            <a:extLst>
              <a:ext uri="{FF2B5EF4-FFF2-40B4-BE49-F238E27FC236}">
                <a16:creationId xmlns:a16="http://schemas.microsoft.com/office/drawing/2014/main" id="{1BA946EF-FBDF-57FF-60AB-915319BA7DE9}"/>
              </a:ext>
            </a:extLst>
          </p:cNvPr>
          <p:cNvSpPr txBox="1"/>
          <p:nvPr/>
        </p:nvSpPr>
        <p:spPr>
          <a:xfrm>
            <a:off x="1269757" y="7026438"/>
            <a:ext cx="3490383" cy="1169551"/>
          </a:xfrm>
          <a:prstGeom prst="rect">
            <a:avLst/>
          </a:prstGeom>
          <a:noFill/>
        </p:spPr>
        <p:txBody>
          <a:bodyPr wrap="square" rtlCol="0">
            <a:spAutoFit/>
          </a:bodyPr>
          <a:lstStyle/>
          <a:p>
            <a:pPr algn="just"/>
            <a:r>
              <a:rPr lang="en-US" altLang="zh-CN" sz="1000" dirty="0"/>
              <a:t>Xing Guo is a Principal Researcher at the Bank of Canada. He received his Ph.D. in Economics from the University of Michigan, and his research focuses on macroeconomics, corporate finance, and immigration. His published work has appeared in top macro-economic journals like </a:t>
            </a:r>
            <a:r>
              <a:rPr lang="en-US" altLang="zh-CN" sz="1000" i="1" dirty="0"/>
              <a:t>American Economic Journal: Macroeconomics</a:t>
            </a:r>
            <a:r>
              <a:rPr lang="en-US" altLang="zh-CN" sz="1000" dirty="0"/>
              <a:t> and </a:t>
            </a:r>
            <a:r>
              <a:rPr lang="en-US" altLang="zh-CN" sz="1000" i="1" dirty="0"/>
              <a:t>Journal of Political Economy: Macroeconomics</a:t>
            </a:r>
            <a:r>
              <a:rPr lang="en-US" altLang="zh-CN" sz="1000" dirty="0"/>
              <a:t>. </a:t>
            </a:r>
            <a:endParaRPr lang="zh-CN" altLang="en-US" sz="1000" dirty="0"/>
          </a:p>
        </p:txBody>
      </p:sp>
      <p:sp>
        <p:nvSpPr>
          <p:cNvPr id="59" name="文本框 58">
            <a:extLst>
              <a:ext uri="{FF2B5EF4-FFF2-40B4-BE49-F238E27FC236}">
                <a16:creationId xmlns:a16="http://schemas.microsoft.com/office/drawing/2014/main" id="{5F8B0963-30DC-1D36-D39F-882382B96233}"/>
              </a:ext>
            </a:extLst>
          </p:cNvPr>
          <p:cNvSpPr txBox="1"/>
          <p:nvPr/>
        </p:nvSpPr>
        <p:spPr>
          <a:xfrm>
            <a:off x="4120416" y="2740828"/>
            <a:ext cx="841050" cy="430887"/>
          </a:xfrm>
          <a:prstGeom prst="rect">
            <a:avLst/>
          </a:prstGeom>
          <a:noFill/>
        </p:spPr>
        <p:txBody>
          <a:bodyPr wrap="square" rtlCol="0">
            <a:spAutoFit/>
          </a:bodyPr>
          <a:lstStyle/>
          <a:p>
            <a:r>
              <a:rPr lang="en-US" altLang="zh-CN" sz="1050" b="1" dirty="0">
                <a:solidFill>
                  <a:schemeClr val="accent1"/>
                </a:solidFill>
              </a:rPr>
              <a:t>2026.5.12</a:t>
            </a:r>
          </a:p>
          <a:p>
            <a:r>
              <a:rPr lang="en-US" altLang="zh-CN" sz="1050" b="1" dirty="0">
                <a:solidFill>
                  <a:schemeClr val="accent1"/>
                </a:solidFill>
              </a:rPr>
              <a:t>12:30</a:t>
            </a:r>
            <a:r>
              <a:rPr lang="zh-CN" altLang="en-US" sz="1050" b="1" dirty="0">
                <a:solidFill>
                  <a:schemeClr val="accent1"/>
                </a:solidFill>
              </a:rPr>
              <a:t> </a:t>
            </a:r>
            <a:r>
              <a:rPr lang="en-US" altLang="zh-CN" sz="1050" b="1" dirty="0">
                <a:solidFill>
                  <a:schemeClr val="accent1"/>
                </a:solidFill>
              </a:rPr>
              <a:t>p.m.</a:t>
            </a:r>
            <a:endParaRPr lang="zh-CN" altLang="en-US" sz="1050" b="1" dirty="0">
              <a:solidFill>
                <a:schemeClr val="accent1"/>
              </a:solidFill>
            </a:endParaRPr>
          </a:p>
        </p:txBody>
      </p:sp>
      <p:pic>
        <p:nvPicPr>
          <p:cNvPr id="6" name="图片 5">
            <a:extLst>
              <a:ext uri="{FF2B5EF4-FFF2-40B4-BE49-F238E27FC236}">
                <a16:creationId xmlns:a16="http://schemas.microsoft.com/office/drawing/2014/main" id="{59692FBA-1BD6-50F7-B399-FA44F37A785A}"/>
              </a:ext>
            </a:extLst>
          </p:cNvPr>
          <p:cNvPicPr>
            <a:picLocks noChangeAspect="1"/>
          </p:cNvPicPr>
          <p:nvPr/>
        </p:nvPicPr>
        <p:blipFill>
          <a:blip r:embed="rId8"/>
          <a:stretch>
            <a:fillRect/>
          </a:stretch>
        </p:blipFill>
        <p:spPr>
          <a:xfrm>
            <a:off x="1265058" y="8376006"/>
            <a:ext cx="2613385" cy="649907"/>
          </a:xfrm>
          <a:prstGeom prst="rect">
            <a:avLst/>
          </a:prstGeom>
        </p:spPr>
      </p:pic>
    </p:spTree>
    <p:extLst>
      <p:ext uri="{BB962C8B-B14F-4D97-AF65-F5344CB8AC3E}">
        <p14:creationId xmlns:p14="http://schemas.microsoft.com/office/powerpoint/2010/main" val="825741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F1B36-179C-4E43-267A-74EAC3930CEB}"/>
            </a:ext>
          </a:extLst>
        </p:cNvPr>
        <p:cNvGrpSpPr/>
        <p:nvPr/>
      </p:nvGrpSpPr>
      <p:grpSpPr>
        <a:xfrm>
          <a:off x="0" y="0"/>
          <a:ext cx="0" cy="0"/>
          <a:chOff x="0" y="0"/>
          <a:chExt cx="0" cy="0"/>
        </a:xfrm>
      </p:grpSpPr>
      <p:sp>
        <p:nvSpPr>
          <p:cNvPr id="39" name="矩形 38">
            <a:extLst>
              <a:ext uri="{FF2B5EF4-FFF2-40B4-BE49-F238E27FC236}">
                <a16:creationId xmlns:a16="http://schemas.microsoft.com/office/drawing/2014/main" id="{0F0B4037-B35F-6998-AE96-4CC91140F9DC}"/>
              </a:ext>
            </a:extLst>
          </p:cNvPr>
          <p:cNvSpPr/>
          <p:nvPr/>
        </p:nvSpPr>
        <p:spPr>
          <a:xfrm>
            <a:off x="165998" y="3936075"/>
            <a:ext cx="4762499" cy="423490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descr="分子网络抽象现代背景">
            <a:extLst>
              <a:ext uri="{FF2B5EF4-FFF2-40B4-BE49-F238E27FC236}">
                <a16:creationId xmlns:a16="http://schemas.microsoft.com/office/drawing/2014/main" id="{6460856D-2CA6-C8D2-4A04-F82A177E92AE}"/>
              </a:ext>
            </a:extLst>
          </p:cNvPr>
          <p:cNvSpPr/>
          <p:nvPr/>
        </p:nvSpPr>
        <p:spPr>
          <a:xfrm>
            <a:off x="0" y="-1"/>
            <a:ext cx="4961466" cy="2607732"/>
          </a:xfrm>
          <a:custGeom>
            <a:avLst/>
            <a:gdLst>
              <a:gd name="csX0" fmla="*/ 0 w 4961466"/>
              <a:gd name="csY0" fmla="*/ 0 h 2607732"/>
              <a:gd name="csX1" fmla="*/ 2571750 w 4961466"/>
              <a:gd name="csY1" fmla="*/ 0 h 2607732"/>
              <a:gd name="csX2" fmla="*/ 4961466 w 4961466"/>
              <a:gd name="csY2" fmla="*/ 0 h 2607732"/>
              <a:gd name="csX3" fmla="*/ 2571750 w 4961466"/>
              <a:gd name="csY3" fmla="*/ 2607732 h 2607732"/>
              <a:gd name="csX4" fmla="*/ 2571750 w 4961466"/>
              <a:gd name="csY4" fmla="*/ 2607731 h 2607732"/>
              <a:gd name="csX5" fmla="*/ 0 w 4961466"/>
              <a:gd name="csY5" fmla="*/ 2607731 h 2607732"/>
            </a:gdLst>
            <a:ahLst/>
            <a:cxnLst>
              <a:cxn ang="0">
                <a:pos x="csX0" y="csY0"/>
              </a:cxn>
              <a:cxn ang="0">
                <a:pos x="csX1" y="csY1"/>
              </a:cxn>
              <a:cxn ang="0">
                <a:pos x="csX2" y="csY2"/>
              </a:cxn>
              <a:cxn ang="0">
                <a:pos x="csX3" y="csY3"/>
              </a:cxn>
              <a:cxn ang="0">
                <a:pos x="csX4" y="csY4"/>
              </a:cxn>
              <a:cxn ang="0">
                <a:pos x="csX5" y="csY5"/>
              </a:cxn>
            </a:cxnLst>
            <a:rect l="l" t="t" r="r" b="b"/>
            <a:pathLst>
              <a:path w="4961466" h="2607732">
                <a:moveTo>
                  <a:pt x="0" y="0"/>
                </a:moveTo>
                <a:lnTo>
                  <a:pt x="2571750" y="0"/>
                </a:lnTo>
                <a:lnTo>
                  <a:pt x="4961466" y="0"/>
                </a:lnTo>
                <a:lnTo>
                  <a:pt x="2571750" y="2607732"/>
                </a:lnTo>
                <a:lnTo>
                  <a:pt x="2571750" y="2607731"/>
                </a:lnTo>
                <a:lnTo>
                  <a:pt x="0" y="2607731"/>
                </a:lnTo>
                <a:close/>
              </a:path>
            </a:pathLst>
          </a:cu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 name="矩形 7">
            <a:extLst>
              <a:ext uri="{FF2B5EF4-FFF2-40B4-BE49-F238E27FC236}">
                <a16:creationId xmlns:a16="http://schemas.microsoft.com/office/drawing/2014/main" id="{45F64B02-8DB7-633A-29C5-163625CF544F}"/>
              </a:ext>
            </a:extLst>
          </p:cNvPr>
          <p:cNvSpPr/>
          <p:nvPr/>
        </p:nvSpPr>
        <p:spPr>
          <a:xfrm>
            <a:off x="2946399" y="321734"/>
            <a:ext cx="2015067" cy="2175933"/>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64172CEF-808C-1F8C-A30F-0F02EAE76FE1}"/>
              </a:ext>
            </a:extLst>
          </p:cNvPr>
          <p:cNvSpPr txBox="1"/>
          <p:nvPr/>
        </p:nvSpPr>
        <p:spPr>
          <a:xfrm>
            <a:off x="201083" y="562030"/>
            <a:ext cx="2844801" cy="861774"/>
          </a:xfrm>
          <a:prstGeom prst="rect">
            <a:avLst/>
          </a:prstGeom>
          <a:noFill/>
        </p:spPr>
        <p:txBody>
          <a:bodyPr wrap="square" rtlCol="0">
            <a:spAutoFit/>
          </a:bodyPr>
          <a:lstStyle/>
          <a:p>
            <a:r>
              <a:rPr lang="en-US" altLang="zh-CN" sz="5000" b="1" spc="-150" dirty="0">
                <a:ln w="0"/>
                <a:solidFill>
                  <a:schemeClr val="bg2"/>
                </a:solidFill>
                <a:effectLst>
                  <a:innerShdw blurRad="63500" dist="50800" dir="13500000">
                    <a:srgbClr val="000000">
                      <a:alpha val="50000"/>
                    </a:srgbClr>
                  </a:innerShdw>
                </a:effectLst>
                <a:latin typeface="Calibri Light" panose="020F0302020204030204" pitchFamily="34" charset="0"/>
                <a:ea typeface="Calibri Light" panose="020F0302020204030204" pitchFamily="34" charset="0"/>
                <a:cs typeface="Calibri Light" panose="020F0302020204030204" pitchFamily="34" charset="0"/>
              </a:rPr>
              <a:t>SEMINAR</a:t>
            </a:r>
            <a:endParaRPr lang="zh-CN" altLang="en-US" sz="5000" b="1" spc="-150" dirty="0">
              <a:ln w="0"/>
              <a:solidFill>
                <a:schemeClr val="bg2"/>
              </a:solidFill>
              <a:effectLst>
                <a:innerShdw blurRad="63500" dist="50800" dir="13500000">
                  <a:srgbClr val="000000">
                    <a:alpha val="50000"/>
                  </a:srgbClr>
                </a:innerShdw>
              </a:effectLst>
              <a:latin typeface="Calibri Light" panose="020F0302020204030204" pitchFamily="34" charset="0"/>
              <a:ea typeface="Microsoft JhengHei Light" panose="020B0304030504040204" pitchFamily="34" charset="-120"/>
              <a:cs typeface="Calibri Light" panose="020F0302020204030204" pitchFamily="34" charset="0"/>
            </a:endParaRPr>
          </a:p>
        </p:txBody>
      </p:sp>
      <p:cxnSp>
        <p:nvCxnSpPr>
          <p:cNvPr id="15" name="直接连接符 14">
            <a:extLst>
              <a:ext uri="{FF2B5EF4-FFF2-40B4-BE49-F238E27FC236}">
                <a16:creationId xmlns:a16="http://schemas.microsoft.com/office/drawing/2014/main" id="{83A22C05-F9A0-1F5B-7E69-95FDEF574B33}"/>
              </a:ext>
            </a:extLst>
          </p:cNvPr>
          <p:cNvCxnSpPr>
            <a:cxnSpLocks/>
          </p:cNvCxnSpPr>
          <p:nvPr/>
        </p:nvCxnSpPr>
        <p:spPr>
          <a:xfrm>
            <a:off x="285751" y="1415392"/>
            <a:ext cx="1261533" cy="0"/>
          </a:xfrm>
          <a:prstGeom prst="line">
            <a:avLst/>
          </a:prstGeom>
          <a:ln w="38100">
            <a:solidFill>
              <a:srgbClr val="FFC000"/>
            </a:solidFill>
          </a:ln>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0EB915DB-BF7D-BACB-9431-8038A1F3E4A7}"/>
              </a:ext>
            </a:extLst>
          </p:cNvPr>
          <p:cNvSpPr txBox="1"/>
          <p:nvPr/>
        </p:nvSpPr>
        <p:spPr>
          <a:xfrm>
            <a:off x="201084" y="1468733"/>
            <a:ext cx="2370666" cy="461665"/>
          </a:xfrm>
          <a:prstGeom prst="rect">
            <a:avLst/>
          </a:prstGeom>
          <a:noFill/>
        </p:spPr>
        <p:txBody>
          <a:bodyPr wrap="square" rtlCol="0">
            <a:spAutoFit/>
          </a:bodyPr>
          <a:lstStyle/>
          <a:p>
            <a:r>
              <a:rPr lang="en-US" altLang="zh-CN" sz="2400" b="1" dirty="0">
                <a:solidFill>
                  <a:srgbClr val="FFC000"/>
                </a:solidFill>
                <a:latin typeface="Segoe UI Historic" panose="020B0502040204020203" pitchFamily="34" charset="0"/>
                <a:ea typeface="Segoe UI Historic" panose="020B0502040204020203" pitchFamily="34" charset="0"/>
                <a:cs typeface="Segoe UI Historic" panose="020B0502040204020203" pitchFamily="34" charset="0"/>
              </a:rPr>
              <a:t>Yuting Zhu  </a:t>
            </a:r>
            <a:r>
              <a:rPr lang="en-US" altLang="zh-CN" sz="1200" b="1" dirty="0">
                <a:solidFill>
                  <a:schemeClr val="bg1"/>
                </a:solidFill>
                <a:latin typeface="Segoe UI Historic" panose="020B0502040204020203" pitchFamily="34" charset="0"/>
                <a:ea typeface="Segoe UI Historic" panose="020B0502040204020203" pitchFamily="34" charset="0"/>
                <a:cs typeface="Segoe UI Historic" panose="020B0502040204020203" pitchFamily="34" charset="0"/>
              </a:rPr>
              <a:t>Ph.D.</a:t>
            </a:r>
            <a:endParaRPr lang="zh-CN" altLang="en-US" sz="2400" b="1" dirty="0">
              <a:solidFill>
                <a:schemeClr val="bg1"/>
              </a:solidFill>
              <a:latin typeface="Segoe UI Historic" panose="020B0502040204020203" pitchFamily="34" charset="0"/>
              <a:cs typeface="Segoe UI Historic" panose="020B0502040204020203" pitchFamily="34" charset="0"/>
            </a:endParaRPr>
          </a:p>
        </p:txBody>
      </p:sp>
      <p:sp>
        <p:nvSpPr>
          <p:cNvPr id="18" name="文本框 17">
            <a:extLst>
              <a:ext uri="{FF2B5EF4-FFF2-40B4-BE49-F238E27FC236}">
                <a16:creationId xmlns:a16="http://schemas.microsoft.com/office/drawing/2014/main" id="{A2A57ADA-CF29-8CAE-264B-FE7EAB865D4C}"/>
              </a:ext>
            </a:extLst>
          </p:cNvPr>
          <p:cNvSpPr txBox="1"/>
          <p:nvPr/>
        </p:nvSpPr>
        <p:spPr>
          <a:xfrm>
            <a:off x="201083" y="1929189"/>
            <a:ext cx="2470149" cy="253916"/>
          </a:xfrm>
          <a:prstGeom prst="rect">
            <a:avLst/>
          </a:prstGeom>
          <a:noFill/>
        </p:spPr>
        <p:txBody>
          <a:bodyPr wrap="square" rtlCol="0">
            <a:spAutoFit/>
          </a:bodyPr>
          <a:lstStyle/>
          <a:p>
            <a:r>
              <a:rPr lang="en-US" altLang="zh-CN" sz="1050" b="1" dirty="0">
                <a:solidFill>
                  <a:schemeClr val="bg1"/>
                </a:solidFill>
              </a:rPr>
              <a:t>Assistant Professor, NUS</a:t>
            </a:r>
            <a:endParaRPr lang="zh-CN" altLang="en-US" sz="1050" b="1" dirty="0">
              <a:solidFill>
                <a:schemeClr val="bg1"/>
              </a:solidFill>
            </a:endParaRPr>
          </a:p>
        </p:txBody>
      </p:sp>
      <p:sp>
        <p:nvSpPr>
          <p:cNvPr id="19" name="文本框 18">
            <a:extLst>
              <a:ext uri="{FF2B5EF4-FFF2-40B4-BE49-F238E27FC236}">
                <a16:creationId xmlns:a16="http://schemas.microsoft.com/office/drawing/2014/main" id="{BF3C61A4-A103-0535-A4BC-6E94FC8E2F0D}"/>
              </a:ext>
            </a:extLst>
          </p:cNvPr>
          <p:cNvSpPr txBox="1"/>
          <p:nvPr/>
        </p:nvSpPr>
        <p:spPr>
          <a:xfrm>
            <a:off x="223470" y="401198"/>
            <a:ext cx="1911351" cy="307777"/>
          </a:xfrm>
          <a:prstGeom prst="rect">
            <a:avLst/>
          </a:prstGeom>
          <a:noFill/>
        </p:spPr>
        <p:txBody>
          <a:bodyPr wrap="square" rtlCol="0">
            <a:spAutoFit/>
          </a:bodyPr>
          <a:lstStyle/>
          <a:p>
            <a:r>
              <a:rPr lang="en-US" altLang="zh-CN" sz="1100" b="1" dirty="0">
                <a:solidFill>
                  <a:schemeClr val="bg1"/>
                </a:solidFill>
              </a:rPr>
              <a:t>DEEP</a:t>
            </a:r>
            <a:r>
              <a:rPr lang="en-US" altLang="zh-CN" sz="1400" b="1" dirty="0">
                <a:solidFill>
                  <a:schemeClr val="bg1"/>
                </a:solidFill>
              </a:rPr>
              <a:t>M</a:t>
            </a:r>
            <a:r>
              <a:rPr lang="en-US" altLang="zh-CN" sz="1100" b="1" dirty="0">
                <a:solidFill>
                  <a:schemeClr val="bg1"/>
                </a:solidFill>
              </a:rPr>
              <a:t>ACRO</a:t>
            </a:r>
            <a:r>
              <a:rPr lang="en-US" altLang="zh-CN" sz="1400" b="1" dirty="0">
                <a:solidFill>
                  <a:schemeClr val="bg1"/>
                </a:solidFill>
              </a:rPr>
              <a:t> L</a:t>
            </a:r>
            <a:r>
              <a:rPr lang="en-US" altLang="zh-CN" sz="1100" b="1" dirty="0">
                <a:solidFill>
                  <a:schemeClr val="bg1"/>
                </a:solidFill>
              </a:rPr>
              <a:t>AB</a:t>
            </a:r>
            <a:endParaRPr lang="zh-CN" altLang="en-US" sz="1400" b="1" dirty="0">
              <a:solidFill>
                <a:schemeClr val="bg1"/>
              </a:solidFill>
            </a:endParaRPr>
          </a:p>
        </p:txBody>
      </p:sp>
      <p:grpSp>
        <p:nvGrpSpPr>
          <p:cNvPr id="24" name="组合 23">
            <a:extLst>
              <a:ext uri="{FF2B5EF4-FFF2-40B4-BE49-F238E27FC236}">
                <a16:creationId xmlns:a16="http://schemas.microsoft.com/office/drawing/2014/main" id="{9441D48B-1BAC-BD9F-685E-EE2FD313FF79}"/>
              </a:ext>
            </a:extLst>
          </p:cNvPr>
          <p:cNvGrpSpPr/>
          <p:nvPr/>
        </p:nvGrpSpPr>
        <p:grpSpPr>
          <a:xfrm>
            <a:off x="253225" y="2812614"/>
            <a:ext cx="592666" cy="592666"/>
            <a:chOff x="1052064" y="3462867"/>
            <a:chExt cx="592666" cy="592666"/>
          </a:xfrm>
        </p:grpSpPr>
        <p:sp>
          <p:nvSpPr>
            <p:cNvPr id="23" name="椭圆 22" descr="分子网络抽象现代背景">
              <a:extLst>
                <a:ext uri="{FF2B5EF4-FFF2-40B4-BE49-F238E27FC236}">
                  <a16:creationId xmlns:a16="http://schemas.microsoft.com/office/drawing/2014/main" id="{C4CADF0A-0805-50A7-1237-82A70AA43A4A}"/>
                </a:ext>
              </a:extLst>
            </p:cNvPr>
            <p:cNvSpPr/>
            <p:nvPr/>
          </p:nvSpPr>
          <p:spPr>
            <a:xfrm>
              <a:off x="1052064" y="3462867"/>
              <a:ext cx="592666" cy="59266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blipFill dpi="0" rotWithShape="1">
                  <a:blip r:embed="rId3">
                    <a:extLst>
                      <a:ext uri="{28A0092B-C50C-407E-A947-70E740481C1C}">
                        <a14:useLocalDpi xmlns:a14="http://schemas.microsoft.com/office/drawing/2010/main" val="0"/>
                      </a:ext>
                    </a:extLst>
                  </a:blip>
                  <a:srcRect/>
                  <a:stretch>
                    <a:fillRect/>
                  </a:stretch>
                </a:blipFill>
              </a:endParaRPr>
            </a:p>
          </p:txBody>
        </p:sp>
        <p:pic>
          <p:nvPicPr>
            <p:cNvPr id="21" name="图形 20" descr="打开的书 纯色填充">
              <a:extLst>
                <a:ext uri="{FF2B5EF4-FFF2-40B4-BE49-F238E27FC236}">
                  <a16:creationId xmlns:a16="http://schemas.microsoft.com/office/drawing/2014/main" id="{AFA98946-198C-9CAE-6C5F-CBBB2F6B7E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2581" y="3551848"/>
              <a:ext cx="414703" cy="414703"/>
            </a:xfrm>
            <a:prstGeom prst="rect">
              <a:avLst/>
            </a:prstGeom>
          </p:spPr>
        </p:pic>
      </p:grpSp>
      <p:cxnSp>
        <p:nvCxnSpPr>
          <p:cNvPr id="26" name="直接连接符 25">
            <a:extLst>
              <a:ext uri="{FF2B5EF4-FFF2-40B4-BE49-F238E27FC236}">
                <a16:creationId xmlns:a16="http://schemas.microsoft.com/office/drawing/2014/main" id="{95A68714-29F3-C7B0-F923-380AB2C22197}"/>
              </a:ext>
            </a:extLst>
          </p:cNvPr>
          <p:cNvCxnSpPr>
            <a:cxnSpLocks/>
          </p:cNvCxnSpPr>
          <p:nvPr/>
        </p:nvCxnSpPr>
        <p:spPr>
          <a:xfrm>
            <a:off x="1028699" y="3025693"/>
            <a:ext cx="1972733" cy="0"/>
          </a:xfrm>
          <a:prstGeom prst="line">
            <a:avLst/>
          </a:prstGeom>
        </p:spPr>
        <p:style>
          <a:lnRef idx="2">
            <a:schemeClr val="accent1"/>
          </a:lnRef>
          <a:fillRef idx="0">
            <a:schemeClr val="accent1"/>
          </a:fillRef>
          <a:effectRef idx="1">
            <a:schemeClr val="accent1"/>
          </a:effectRef>
          <a:fontRef idx="minor">
            <a:schemeClr val="tx1"/>
          </a:fontRef>
        </p:style>
      </p:cxnSp>
      <p:sp>
        <p:nvSpPr>
          <p:cNvPr id="28" name="文本框 27">
            <a:extLst>
              <a:ext uri="{FF2B5EF4-FFF2-40B4-BE49-F238E27FC236}">
                <a16:creationId xmlns:a16="http://schemas.microsoft.com/office/drawing/2014/main" id="{3D83A7F4-3797-48BA-087E-5E99B9AE321C}"/>
              </a:ext>
            </a:extLst>
          </p:cNvPr>
          <p:cNvSpPr txBox="1"/>
          <p:nvPr/>
        </p:nvSpPr>
        <p:spPr>
          <a:xfrm>
            <a:off x="971678" y="2728019"/>
            <a:ext cx="2190669" cy="276999"/>
          </a:xfrm>
          <a:prstGeom prst="rect">
            <a:avLst/>
          </a:prstGeom>
          <a:noFill/>
        </p:spPr>
        <p:txBody>
          <a:bodyPr wrap="square" rtlCol="0">
            <a:spAutoFit/>
          </a:bodyPr>
          <a:lstStyle/>
          <a:p>
            <a:r>
              <a:rPr lang="en-US" altLang="zh-CN" sz="1200" b="1" dirty="0">
                <a:solidFill>
                  <a:schemeClr val="accent1">
                    <a:lumMod val="50000"/>
                  </a:schemeClr>
                </a:solidFill>
              </a:rPr>
              <a:t>PRESENTED PAPER</a:t>
            </a:r>
            <a:endParaRPr lang="zh-CN" altLang="en-US" sz="1200" b="1" dirty="0">
              <a:solidFill>
                <a:schemeClr val="accent1">
                  <a:lumMod val="50000"/>
                </a:schemeClr>
              </a:solidFill>
            </a:endParaRPr>
          </a:p>
        </p:txBody>
      </p:sp>
      <p:sp>
        <p:nvSpPr>
          <p:cNvPr id="29" name="文本框 28">
            <a:extLst>
              <a:ext uri="{FF2B5EF4-FFF2-40B4-BE49-F238E27FC236}">
                <a16:creationId xmlns:a16="http://schemas.microsoft.com/office/drawing/2014/main" id="{E1113101-0669-8CBE-0DDD-5EF57A82B9C8}"/>
              </a:ext>
            </a:extLst>
          </p:cNvPr>
          <p:cNvSpPr txBox="1"/>
          <p:nvPr/>
        </p:nvSpPr>
        <p:spPr>
          <a:xfrm>
            <a:off x="938087" y="3027201"/>
            <a:ext cx="4591048" cy="584775"/>
          </a:xfrm>
          <a:prstGeom prst="rect">
            <a:avLst/>
          </a:prstGeom>
          <a:noFill/>
        </p:spPr>
        <p:txBody>
          <a:bodyPr wrap="square" rtlCol="0">
            <a:spAutoFit/>
          </a:bodyPr>
          <a:lstStyle/>
          <a:p>
            <a:r>
              <a:rPr lang="en-US" altLang="zh-CN" sz="1600" b="1" dirty="0">
                <a:solidFill>
                  <a:schemeClr val="accent1">
                    <a:lumMod val="50000"/>
                  </a:schemeClr>
                </a:solidFill>
                <a:latin typeface="Segoe UI Light" panose="020B0502040204020203" pitchFamily="34" charset="0"/>
                <a:ea typeface="Calibri Light" panose="020F0302020204030204" pitchFamily="34" charset="0"/>
                <a:cs typeface="Segoe UI Light" panose="020B0502040204020203" pitchFamily="34" charset="0"/>
              </a:rPr>
              <a:t>Generative Search: </a:t>
            </a:r>
          </a:p>
          <a:p>
            <a:r>
              <a:rPr lang="en-US" altLang="zh-CN" sz="1600" b="1" dirty="0">
                <a:solidFill>
                  <a:schemeClr val="accent1">
                    <a:lumMod val="50000"/>
                  </a:schemeClr>
                </a:solidFill>
                <a:latin typeface="Segoe UI Light" panose="020B0502040204020203" pitchFamily="34" charset="0"/>
                <a:ea typeface="Calibri Light" panose="020F0302020204030204" pitchFamily="34" charset="0"/>
                <a:cs typeface="Segoe UI Light" panose="020B0502040204020203" pitchFamily="34" charset="0"/>
              </a:rPr>
              <a:t>Evidence from a Large-Scale Field Experiment</a:t>
            </a:r>
            <a:endParaRPr lang="zh-CN" altLang="en-US" sz="1600" b="1" dirty="0">
              <a:solidFill>
                <a:schemeClr val="accent1">
                  <a:lumMod val="50000"/>
                </a:schemeClr>
              </a:solidFill>
              <a:latin typeface="Segoe UI Light" panose="020B0502040204020203" pitchFamily="34" charset="0"/>
              <a:ea typeface="等线" panose="02010600030101010101" pitchFamily="2" charset="-122"/>
              <a:cs typeface="Segoe UI Light" panose="020B0502040204020203" pitchFamily="34" charset="0"/>
            </a:endParaRPr>
          </a:p>
        </p:txBody>
      </p:sp>
      <p:cxnSp>
        <p:nvCxnSpPr>
          <p:cNvPr id="31" name="直接连接符 30">
            <a:extLst>
              <a:ext uri="{FF2B5EF4-FFF2-40B4-BE49-F238E27FC236}">
                <a16:creationId xmlns:a16="http://schemas.microsoft.com/office/drawing/2014/main" id="{C3E9E430-25EE-F194-94ED-2DE016B425AD}"/>
              </a:ext>
            </a:extLst>
          </p:cNvPr>
          <p:cNvCxnSpPr/>
          <p:nvPr/>
        </p:nvCxnSpPr>
        <p:spPr>
          <a:xfrm>
            <a:off x="1041641" y="3673567"/>
            <a:ext cx="842435"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
        <p:nvSpPr>
          <p:cNvPr id="32" name="文本框 31">
            <a:extLst>
              <a:ext uri="{FF2B5EF4-FFF2-40B4-BE49-F238E27FC236}">
                <a16:creationId xmlns:a16="http://schemas.microsoft.com/office/drawing/2014/main" id="{92307364-11E5-5473-5364-24D87FBEDE53}"/>
              </a:ext>
            </a:extLst>
          </p:cNvPr>
          <p:cNvSpPr txBox="1"/>
          <p:nvPr/>
        </p:nvSpPr>
        <p:spPr>
          <a:xfrm>
            <a:off x="938087" y="3687660"/>
            <a:ext cx="3479800" cy="253916"/>
          </a:xfrm>
          <a:prstGeom prst="rect">
            <a:avLst/>
          </a:prstGeom>
          <a:noFill/>
        </p:spPr>
        <p:txBody>
          <a:bodyPr wrap="square" rtlCol="0">
            <a:spAutoFit/>
          </a:bodyPr>
          <a:lstStyle/>
          <a:p>
            <a:r>
              <a:rPr lang="en-US" altLang="zh-CN" sz="1000" i="1" dirty="0"/>
              <a:t>with Shuang Zheng, Xin Ye and Liang Shen</a:t>
            </a:r>
            <a:endParaRPr lang="zh-CN" altLang="en-US" sz="1000" i="1" dirty="0"/>
          </a:p>
        </p:txBody>
      </p:sp>
      <p:grpSp>
        <p:nvGrpSpPr>
          <p:cNvPr id="38" name="组合 37">
            <a:extLst>
              <a:ext uri="{FF2B5EF4-FFF2-40B4-BE49-F238E27FC236}">
                <a16:creationId xmlns:a16="http://schemas.microsoft.com/office/drawing/2014/main" id="{0858115A-8033-1723-08B2-021C0573DAA7}"/>
              </a:ext>
            </a:extLst>
          </p:cNvPr>
          <p:cNvGrpSpPr/>
          <p:nvPr/>
        </p:nvGrpSpPr>
        <p:grpSpPr>
          <a:xfrm>
            <a:off x="279323" y="4252076"/>
            <a:ext cx="592666" cy="592666"/>
            <a:chOff x="655110" y="4393781"/>
            <a:chExt cx="592666" cy="592666"/>
          </a:xfrm>
        </p:grpSpPr>
        <p:sp>
          <p:nvSpPr>
            <p:cNvPr id="34" name="椭圆 33" descr="分子网络抽象现代背景">
              <a:extLst>
                <a:ext uri="{FF2B5EF4-FFF2-40B4-BE49-F238E27FC236}">
                  <a16:creationId xmlns:a16="http://schemas.microsoft.com/office/drawing/2014/main" id="{A8191243-65A2-297C-1414-9037089A332E}"/>
                </a:ext>
              </a:extLst>
            </p:cNvPr>
            <p:cNvSpPr/>
            <p:nvPr/>
          </p:nvSpPr>
          <p:spPr>
            <a:xfrm>
              <a:off x="655110" y="4393781"/>
              <a:ext cx="592666" cy="59266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blipFill dpi="0" rotWithShape="1">
                  <a:blip r:embed="rId3">
                    <a:extLst>
                      <a:ext uri="{28A0092B-C50C-407E-A947-70E740481C1C}">
                        <a14:useLocalDpi xmlns:a14="http://schemas.microsoft.com/office/drawing/2010/main" val="0"/>
                      </a:ext>
                    </a:extLst>
                  </a:blip>
                  <a:srcRect/>
                  <a:stretch>
                    <a:fillRect/>
                  </a:stretch>
                </a:blipFill>
              </a:endParaRPr>
            </a:p>
          </p:txBody>
        </p:sp>
        <p:pic>
          <p:nvPicPr>
            <p:cNvPr id="37" name="图形 36" descr="放大镜 纯色填充">
              <a:extLst>
                <a:ext uri="{FF2B5EF4-FFF2-40B4-BE49-F238E27FC236}">
                  <a16:creationId xmlns:a16="http://schemas.microsoft.com/office/drawing/2014/main" id="{DF365296-2672-FE6E-7C3C-DF3F20A512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8243" y="4475470"/>
              <a:ext cx="406400" cy="406400"/>
            </a:xfrm>
            <a:prstGeom prst="rect">
              <a:avLst/>
            </a:prstGeom>
          </p:spPr>
        </p:pic>
      </p:grpSp>
      <p:cxnSp>
        <p:nvCxnSpPr>
          <p:cNvPr id="41" name="直接连接符 40">
            <a:extLst>
              <a:ext uri="{FF2B5EF4-FFF2-40B4-BE49-F238E27FC236}">
                <a16:creationId xmlns:a16="http://schemas.microsoft.com/office/drawing/2014/main" id="{28B58565-3D77-B9E5-07ED-3DC6D2FA7713}"/>
              </a:ext>
            </a:extLst>
          </p:cNvPr>
          <p:cNvCxnSpPr/>
          <p:nvPr/>
        </p:nvCxnSpPr>
        <p:spPr>
          <a:xfrm>
            <a:off x="1041641" y="4343171"/>
            <a:ext cx="3496733" cy="0"/>
          </a:xfrm>
          <a:prstGeom prst="line">
            <a:avLst/>
          </a:prstGeom>
          <a:ln w="9525"/>
        </p:spPr>
        <p:style>
          <a:lnRef idx="2">
            <a:schemeClr val="accent1"/>
          </a:lnRef>
          <a:fillRef idx="0">
            <a:schemeClr val="accent1"/>
          </a:fillRef>
          <a:effectRef idx="1">
            <a:schemeClr val="accent1"/>
          </a:effectRef>
          <a:fontRef idx="minor">
            <a:schemeClr val="tx1"/>
          </a:fontRef>
        </p:style>
      </p:cxnSp>
      <p:cxnSp>
        <p:nvCxnSpPr>
          <p:cNvPr id="43" name="直接连接符 42">
            <a:extLst>
              <a:ext uri="{FF2B5EF4-FFF2-40B4-BE49-F238E27FC236}">
                <a16:creationId xmlns:a16="http://schemas.microsoft.com/office/drawing/2014/main" id="{86ED5716-8760-CC65-6037-84576E3E3B32}"/>
              </a:ext>
            </a:extLst>
          </p:cNvPr>
          <p:cNvCxnSpPr/>
          <p:nvPr/>
        </p:nvCxnSpPr>
        <p:spPr>
          <a:xfrm>
            <a:off x="971678" y="3975197"/>
            <a:ext cx="0" cy="2201333"/>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44" name="文本框 43">
            <a:extLst>
              <a:ext uri="{FF2B5EF4-FFF2-40B4-BE49-F238E27FC236}">
                <a16:creationId xmlns:a16="http://schemas.microsoft.com/office/drawing/2014/main" id="{38242D6C-1091-9C25-ECE0-61D12FD6175F}"/>
              </a:ext>
            </a:extLst>
          </p:cNvPr>
          <p:cNvSpPr txBox="1"/>
          <p:nvPr/>
        </p:nvSpPr>
        <p:spPr>
          <a:xfrm>
            <a:off x="1020316" y="4057705"/>
            <a:ext cx="2190669" cy="276999"/>
          </a:xfrm>
          <a:prstGeom prst="rect">
            <a:avLst/>
          </a:prstGeom>
          <a:noFill/>
        </p:spPr>
        <p:txBody>
          <a:bodyPr wrap="square" rtlCol="0">
            <a:spAutoFit/>
          </a:bodyPr>
          <a:lstStyle/>
          <a:p>
            <a:r>
              <a:rPr lang="en-US" altLang="zh-CN" sz="1200" b="1" dirty="0">
                <a:solidFill>
                  <a:schemeClr val="accent1">
                    <a:lumMod val="50000"/>
                  </a:schemeClr>
                </a:solidFill>
              </a:rPr>
              <a:t>ABSTRACT</a:t>
            </a:r>
            <a:endParaRPr lang="zh-CN" altLang="en-US" sz="1200" b="1" dirty="0">
              <a:solidFill>
                <a:schemeClr val="accent1">
                  <a:lumMod val="50000"/>
                </a:schemeClr>
              </a:solidFill>
            </a:endParaRPr>
          </a:p>
        </p:txBody>
      </p:sp>
      <p:sp>
        <p:nvSpPr>
          <p:cNvPr id="54" name="文本框 53">
            <a:extLst>
              <a:ext uri="{FF2B5EF4-FFF2-40B4-BE49-F238E27FC236}">
                <a16:creationId xmlns:a16="http://schemas.microsoft.com/office/drawing/2014/main" id="{53F37E0E-540E-3232-2E4C-2E829BD6263F}"/>
              </a:ext>
            </a:extLst>
          </p:cNvPr>
          <p:cNvSpPr txBox="1"/>
          <p:nvPr/>
        </p:nvSpPr>
        <p:spPr>
          <a:xfrm>
            <a:off x="997044" y="4410415"/>
            <a:ext cx="3882777" cy="3693319"/>
          </a:xfrm>
          <a:prstGeom prst="rect">
            <a:avLst/>
          </a:prstGeom>
          <a:noFill/>
        </p:spPr>
        <p:txBody>
          <a:bodyPr wrap="square" rtlCol="0">
            <a:spAutoFit/>
          </a:bodyPr>
          <a:lstStyle/>
          <a:p>
            <a:pPr algn="just"/>
            <a:r>
              <a:rPr lang="en-US" altLang="zh-CN" sz="900" dirty="0"/>
              <a:t>Generative search is an emerging search paradigm that integrates Generative AI (GenAI) into traditional search engines. Increasingly adopted by platforms worldwide, this format presents consumers with a GenAI-generated response to their query prior to displaying conventional search results. Unlike keyword-based search, which relies on consumers’ ability to translate underlying needs into effective keyword queries, generative search allows consumers to directly express their underlying intentions in natural language and receive responses that guide subsequent exploration. This shift moves the consumer–search engine interaction upstream in the search process, to the stage of original problem formulation. By bringing this upper-funnel interaction, namely, the mapping from problem formulation to keyword articulation, onto the platform, generative search makes a previously unobservable stage of consumer search behavior empirically observable. However, it remains empirically unknown whether generative search can increase consumer purchases, and how consumer search behavior changes when search can begin from expressed intent rather than keywords. Using a large-scale field experiment conducted on Meituan, a leading Chinese technology platform, this paper provides the first empirical evidence on the effectiveness of generative search. We find that generative search significantly increases consumer purchases. Further analysis reveals that generative search facilitates more effective and diverse keyword queries, reduces exploratory browsing and clicking while concentrating evaluation within relevant categories and merchants, which helps explain the observed increase in purchases. These findings provide empirical insights for future consumer search models that allow search to originate at the intention-expressing stage.</a:t>
            </a:r>
            <a:endParaRPr lang="zh-CN" altLang="en-US" sz="900" dirty="0"/>
          </a:p>
        </p:txBody>
      </p:sp>
      <p:sp>
        <p:nvSpPr>
          <p:cNvPr id="59" name="文本框 58">
            <a:extLst>
              <a:ext uri="{FF2B5EF4-FFF2-40B4-BE49-F238E27FC236}">
                <a16:creationId xmlns:a16="http://schemas.microsoft.com/office/drawing/2014/main" id="{AD381DEB-5C24-A9BC-2443-DBDFCA1677B4}"/>
              </a:ext>
            </a:extLst>
          </p:cNvPr>
          <p:cNvSpPr txBox="1"/>
          <p:nvPr/>
        </p:nvSpPr>
        <p:spPr>
          <a:xfrm>
            <a:off x="4120416" y="2740828"/>
            <a:ext cx="841050" cy="430887"/>
          </a:xfrm>
          <a:prstGeom prst="rect">
            <a:avLst/>
          </a:prstGeom>
          <a:noFill/>
        </p:spPr>
        <p:txBody>
          <a:bodyPr wrap="square" rtlCol="0">
            <a:spAutoFit/>
          </a:bodyPr>
          <a:lstStyle/>
          <a:p>
            <a:r>
              <a:rPr lang="en-US" altLang="zh-CN" sz="1050" b="1" dirty="0">
                <a:solidFill>
                  <a:schemeClr val="accent1"/>
                </a:solidFill>
              </a:rPr>
              <a:t>2026.5.20</a:t>
            </a:r>
          </a:p>
          <a:p>
            <a:r>
              <a:rPr lang="en-US" altLang="zh-CN" sz="1050" b="1" dirty="0">
                <a:solidFill>
                  <a:schemeClr val="accent1"/>
                </a:solidFill>
              </a:rPr>
              <a:t>15:30</a:t>
            </a:r>
            <a:r>
              <a:rPr lang="zh-CN" altLang="en-US" sz="1050" b="1" dirty="0">
                <a:solidFill>
                  <a:schemeClr val="accent1"/>
                </a:solidFill>
              </a:rPr>
              <a:t> </a:t>
            </a:r>
            <a:r>
              <a:rPr lang="en-US" altLang="zh-CN" sz="1050" b="1" dirty="0">
                <a:solidFill>
                  <a:schemeClr val="accent1"/>
                </a:solidFill>
              </a:rPr>
              <a:t>p.m.</a:t>
            </a:r>
            <a:endParaRPr lang="zh-CN" altLang="en-US" sz="1050" b="1" dirty="0">
              <a:solidFill>
                <a:schemeClr val="accent1"/>
              </a:solidFill>
            </a:endParaRPr>
          </a:p>
        </p:txBody>
      </p:sp>
      <p:pic>
        <p:nvPicPr>
          <p:cNvPr id="6" name="图片 5">
            <a:extLst>
              <a:ext uri="{FF2B5EF4-FFF2-40B4-BE49-F238E27FC236}">
                <a16:creationId xmlns:a16="http://schemas.microsoft.com/office/drawing/2014/main" id="{EA63EE93-72AD-73A8-879B-F9D2EB0DECB6}"/>
              </a:ext>
            </a:extLst>
          </p:cNvPr>
          <p:cNvPicPr>
            <a:picLocks noChangeAspect="1"/>
          </p:cNvPicPr>
          <p:nvPr/>
        </p:nvPicPr>
        <p:blipFill>
          <a:blip r:embed="rId6"/>
          <a:stretch>
            <a:fillRect/>
          </a:stretch>
        </p:blipFill>
        <p:spPr>
          <a:xfrm>
            <a:off x="1273523" y="8253486"/>
            <a:ext cx="2613385" cy="649907"/>
          </a:xfrm>
          <a:prstGeom prst="rect">
            <a:avLst/>
          </a:prstGeom>
        </p:spPr>
      </p:pic>
      <p:pic>
        <p:nvPicPr>
          <p:cNvPr id="3" name="图片 2">
            <a:extLst>
              <a:ext uri="{FF2B5EF4-FFF2-40B4-BE49-F238E27FC236}">
                <a16:creationId xmlns:a16="http://schemas.microsoft.com/office/drawing/2014/main" id="{7BD3F921-75B3-4FC3-B365-4FC8BBCD1300}"/>
              </a:ext>
            </a:extLst>
          </p:cNvPr>
          <p:cNvPicPr>
            <a:picLocks noChangeAspect="1"/>
          </p:cNvPicPr>
          <p:nvPr/>
        </p:nvPicPr>
        <p:blipFill>
          <a:blip r:embed="rId7">
            <a:extLst>
              <a:ext uri="{28A0092B-C50C-407E-A947-70E740481C1C}">
                <a14:useLocalDpi xmlns:a14="http://schemas.microsoft.com/office/drawing/2010/main" val="0"/>
              </a:ext>
            </a:extLst>
          </a:blip>
          <a:srcRect t="3678" r="11079" b="31625"/>
          <a:stretch>
            <a:fillRect/>
          </a:stretch>
        </p:blipFill>
        <p:spPr>
          <a:xfrm>
            <a:off x="2988652" y="344031"/>
            <a:ext cx="1939845" cy="2117099"/>
          </a:xfrm>
          <a:prstGeom prst="rect">
            <a:avLst/>
          </a:prstGeom>
        </p:spPr>
      </p:pic>
    </p:spTree>
    <p:extLst>
      <p:ext uri="{BB962C8B-B14F-4D97-AF65-F5344CB8AC3E}">
        <p14:creationId xmlns:p14="http://schemas.microsoft.com/office/powerpoint/2010/main" val="1614799666"/>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主题​​">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346</TotalTime>
  <Words>520</Words>
  <Application>Microsoft Macintosh PowerPoint</Application>
  <PresentationFormat>全屏显示(16:9)</PresentationFormat>
  <Paragraphs>27</Paragraphs>
  <Slides>2</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vt:i4>
      </vt:variant>
    </vt:vector>
  </HeadingPairs>
  <TitlesOfParts>
    <vt:vector size="9" baseType="lpstr">
      <vt:lpstr>Aptos</vt:lpstr>
      <vt:lpstr>Aptos Display</vt:lpstr>
      <vt:lpstr>Arial</vt:lpstr>
      <vt:lpstr>Calibri Light</vt:lpstr>
      <vt:lpstr>Segoe UI Historic</vt:lpstr>
      <vt:lpstr>Segoe UI Light</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Jianpo Xue</dc:creator>
  <cp:lastModifiedBy>Rongqing Sun</cp:lastModifiedBy>
  <cp:revision>19</cp:revision>
  <cp:lastPrinted>2026-05-08T09:24:25Z</cp:lastPrinted>
  <dcterms:created xsi:type="dcterms:W3CDTF">2026-05-08T08:23:21Z</dcterms:created>
  <dcterms:modified xsi:type="dcterms:W3CDTF">2026-05-26T04:23:09Z</dcterms:modified>
</cp:coreProperties>
</file>